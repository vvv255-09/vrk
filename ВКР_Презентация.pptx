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Текст заголовка</a:t>
            </a:r>
          </a:p>
        </p:txBody>
      </p:sp>
      <p:sp>
        <p:nvSpPr>
          <p:cNvPr id="3" name="Уровень текста 1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Text 2"/>
          <p:cNvSpPr txBox="1"/>
          <p:nvPr/>
        </p:nvSpPr>
        <p:spPr>
          <a:xfrm>
            <a:off x="914400" y="294421"/>
            <a:ext cx="6858000" cy="371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900">
                <a:solidFill>
                  <a:srgbClr val="FFFFFF"/>
                </a:solidFill>
              </a:defRPr>
            </a:pPr>
            <a:r>
              <a:t>МИНИСТЕРСТВО НАУКИ ВЫСШЕГО ОБРАЗОВАНИЯ И ИННОВАЦИЙ КЫРГЫЗСКОЙ РЕСПУБЛИКИ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Кыргызский государственный технический университет им. И. Раззакова</a:t>
            </a:r>
            <a:endParaRPr sz="900"/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Институт информационных технологий  |  Кафедра «ПМиИ»</a:t>
            </a:r>
          </a:p>
        </p:txBody>
      </p:sp>
      <p:pic>
        <p:nvPicPr>
          <p:cNvPr id="2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8600" y="1051560"/>
            <a:ext cx="914400" cy="914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956663" y="1149898"/>
            <a:ext cx="1005841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Shape 4"/>
          <p:cNvSpPr/>
          <p:nvPr/>
        </p:nvSpPr>
        <p:spPr>
          <a:xfrm>
            <a:off x="1371600" y="1188719"/>
            <a:ext cx="64008" cy="2286001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" name="Text 5"/>
          <p:cNvSpPr txBox="1"/>
          <p:nvPr/>
        </p:nvSpPr>
        <p:spPr>
          <a:xfrm>
            <a:off x="1554480" y="1371644"/>
            <a:ext cx="722376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1E2C58"/>
                </a:solidFill>
              </a:defRPr>
            </a:lvl1pPr>
          </a:lstStyle>
          <a:p>
            <a:pPr/>
            <a:r>
              <a:t>Тема выпускной квалификационной работы:</a:t>
            </a:r>
          </a:p>
        </p:txBody>
      </p:sp>
      <p:sp>
        <p:nvSpPr>
          <p:cNvPr id="27" name="Text 6"/>
          <p:cNvSpPr txBox="1"/>
          <p:nvPr/>
        </p:nvSpPr>
        <p:spPr>
          <a:xfrm>
            <a:off x="1554480" y="2156286"/>
            <a:ext cx="7223760" cy="5337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1A2C5B"/>
                </a:solidFill>
              </a:defRPr>
            </a:lvl1pPr>
          </a:lstStyle>
          <a:p>
            <a:pPr/>
            <a:r>
              <a:t>РАЗРАБОТКА ИНФОРМАЦИОННОЙ СИСТЕМЫ СКЛАДСКОГО УЧЁТА И АНАЛИЗА ТОВАРНЫХ ЗАПАСОВ</a:t>
            </a:r>
          </a:p>
        </p:txBody>
      </p:sp>
      <p:sp>
        <p:nvSpPr>
          <p:cNvPr id="28" name="Shape 7"/>
          <p:cNvSpPr/>
          <p:nvPr/>
        </p:nvSpPr>
        <p:spPr>
          <a:xfrm>
            <a:off x="164591" y="3931920"/>
            <a:ext cx="8979410" cy="1211581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Text 8"/>
          <p:cNvSpPr txBox="1"/>
          <p:nvPr/>
        </p:nvSpPr>
        <p:spPr>
          <a:xfrm>
            <a:off x="1371599" y="4298618"/>
            <a:ext cx="7498082" cy="464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Выполнил: </a:t>
            </a:r>
            <a:r>
              <a:rPr b="1"/>
              <a:t>Омуршаев С.А, студент гр. ПМИ 1-22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Руководитель: </a:t>
            </a:r>
            <a:r>
              <a:rPr b="1"/>
              <a:t>Кыштобаева Г.К., ст. преп. каф. «ПМИ»</a:t>
            </a:r>
          </a:p>
          <a:p>
            <a:pPr>
              <a:defRPr i="1" sz="1100">
                <a:solidFill>
                  <a:srgbClr val="FFFFFF"/>
                </a:solidFill>
              </a:defRPr>
            </a:pPr>
            <a:r>
              <a:t>Бишкек —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" name="Text 1"/>
          <p:cNvSpPr txBox="1"/>
          <p:nvPr/>
        </p:nvSpPr>
        <p:spPr>
          <a:xfrm>
            <a:off x="365760" y="309968"/>
            <a:ext cx="8595360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1A2C5B"/>
                </a:solidFill>
              </a:defRPr>
            </a:lvl1pPr>
          </a:lstStyle>
          <a:p>
            <a:pPr/>
            <a:r>
              <a:t>АКТУАЛЬНОСТЬ И ЦЕЛЬ РАБОТЫ</a:t>
            </a:r>
          </a:p>
        </p:txBody>
      </p:sp>
      <p:sp>
        <p:nvSpPr>
          <p:cNvPr id="33" name="Shape 2"/>
          <p:cNvSpPr/>
          <p:nvPr/>
        </p:nvSpPr>
        <p:spPr>
          <a:xfrm>
            <a:off x="320039" y="822960"/>
            <a:ext cx="4023361" cy="868681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50800" dist="12700" dir="810000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" name="Shape 3"/>
          <p:cNvSpPr/>
          <p:nvPr/>
        </p:nvSpPr>
        <p:spPr>
          <a:xfrm>
            <a:off x="320040" y="822960"/>
            <a:ext cx="54865" cy="868681"/>
          </a:xfrm>
          <a:prstGeom prst="rect">
            <a:avLst/>
          </a:prstGeom>
          <a:solidFill>
            <a:srgbClr val="2E5BBA"/>
          </a:solidFill>
          <a:ln w="12700">
            <a:solidFill>
              <a:srgbClr val="2E5BB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" name="Text 4"/>
          <p:cNvSpPr txBox="1"/>
          <p:nvPr/>
        </p:nvSpPr>
        <p:spPr>
          <a:xfrm>
            <a:off x="457199" y="900684"/>
            <a:ext cx="374904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solidFill>
                  <a:srgbClr val="1A2C5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📋  </a:t>
            </a:r>
            <a:r>
              <a:t>Ручной учёт</a:t>
            </a:r>
          </a:p>
        </p:txBody>
      </p:sp>
      <p:sp>
        <p:nvSpPr>
          <p:cNvPr id="36" name="Text 5"/>
          <p:cNvSpPr txBox="1"/>
          <p:nvPr/>
        </p:nvSpPr>
        <p:spPr>
          <a:xfrm>
            <a:off x="457199" y="1312672"/>
            <a:ext cx="37490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Ошибки при подсчёте, неактуальные данные об остатках</a:t>
            </a:r>
          </a:p>
        </p:txBody>
      </p:sp>
      <p:sp>
        <p:nvSpPr>
          <p:cNvPr id="37" name="Shape 6"/>
          <p:cNvSpPr/>
          <p:nvPr/>
        </p:nvSpPr>
        <p:spPr>
          <a:xfrm>
            <a:off x="320039" y="1828800"/>
            <a:ext cx="4023361" cy="868681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50800" dist="12700" dir="810000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" name="Shape 7"/>
          <p:cNvSpPr/>
          <p:nvPr/>
        </p:nvSpPr>
        <p:spPr>
          <a:xfrm>
            <a:off x="320040" y="1828800"/>
            <a:ext cx="54865" cy="868681"/>
          </a:xfrm>
          <a:prstGeom prst="rect">
            <a:avLst/>
          </a:prstGeom>
          <a:solidFill>
            <a:srgbClr val="2E5BBA"/>
          </a:solidFill>
          <a:ln w="12700">
            <a:solidFill>
              <a:srgbClr val="2E5BB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" name="Text 8"/>
          <p:cNvSpPr txBox="1"/>
          <p:nvPr/>
        </p:nvSpPr>
        <p:spPr>
          <a:xfrm>
            <a:off x="457199" y="1906524"/>
            <a:ext cx="374904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solidFill>
                  <a:srgbClr val="1A2C5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🔍  </a:t>
            </a:r>
            <a:r>
              <a:t>Отсутствие поиска</a:t>
            </a:r>
          </a:p>
        </p:txBody>
      </p:sp>
      <p:sp>
        <p:nvSpPr>
          <p:cNvPr id="40" name="Text 9"/>
          <p:cNvSpPr txBox="1"/>
          <p:nvPr/>
        </p:nvSpPr>
        <p:spPr>
          <a:xfrm>
            <a:off x="457199" y="2318511"/>
            <a:ext cx="37490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Невозможно быстро найти товар по категории или артикулу</a:t>
            </a:r>
          </a:p>
        </p:txBody>
      </p:sp>
      <p:sp>
        <p:nvSpPr>
          <p:cNvPr id="41" name="Shape 10"/>
          <p:cNvSpPr/>
          <p:nvPr/>
        </p:nvSpPr>
        <p:spPr>
          <a:xfrm>
            <a:off x="320039" y="2834639"/>
            <a:ext cx="4023361" cy="868681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50800" dist="12700" dir="810000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" name="Shape 11"/>
          <p:cNvSpPr/>
          <p:nvPr/>
        </p:nvSpPr>
        <p:spPr>
          <a:xfrm>
            <a:off x="320040" y="2834639"/>
            <a:ext cx="54865" cy="868681"/>
          </a:xfrm>
          <a:prstGeom prst="rect">
            <a:avLst/>
          </a:prstGeom>
          <a:solidFill>
            <a:srgbClr val="2E5BBA"/>
          </a:solidFill>
          <a:ln w="12700">
            <a:solidFill>
              <a:srgbClr val="2E5BB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" name="Text 12"/>
          <p:cNvSpPr txBox="1"/>
          <p:nvPr/>
        </p:nvSpPr>
        <p:spPr>
          <a:xfrm>
            <a:off x="457199" y="2912364"/>
            <a:ext cx="374904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solidFill>
                  <a:srgbClr val="1A2C5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📊  </a:t>
            </a:r>
            <a:r>
              <a:t>Нет аналитики</a:t>
            </a:r>
          </a:p>
        </p:txBody>
      </p:sp>
      <p:sp>
        <p:nvSpPr>
          <p:cNvPr id="44" name="Text 13"/>
          <p:cNvSpPr txBox="1"/>
          <p:nvPr/>
        </p:nvSpPr>
        <p:spPr>
          <a:xfrm>
            <a:off x="457199" y="3324352"/>
            <a:ext cx="37490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Руководство не видит структуру и стоимость запасов</a:t>
            </a:r>
          </a:p>
        </p:txBody>
      </p:sp>
      <p:sp>
        <p:nvSpPr>
          <p:cNvPr id="45" name="Shape 14"/>
          <p:cNvSpPr/>
          <p:nvPr/>
        </p:nvSpPr>
        <p:spPr>
          <a:xfrm>
            <a:off x="320039" y="3840479"/>
            <a:ext cx="4023361" cy="868681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50800" dist="12700" dir="810000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" name="Shape 15"/>
          <p:cNvSpPr/>
          <p:nvPr/>
        </p:nvSpPr>
        <p:spPr>
          <a:xfrm>
            <a:off x="320040" y="3840479"/>
            <a:ext cx="54865" cy="868681"/>
          </a:xfrm>
          <a:prstGeom prst="rect">
            <a:avLst/>
          </a:prstGeom>
          <a:solidFill>
            <a:srgbClr val="2E5BBA"/>
          </a:solidFill>
          <a:ln w="12700">
            <a:solidFill>
              <a:srgbClr val="2E5BB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Text 16"/>
          <p:cNvSpPr txBox="1"/>
          <p:nvPr/>
        </p:nvSpPr>
        <p:spPr>
          <a:xfrm>
            <a:off x="457199" y="3918203"/>
            <a:ext cx="374904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solidFill>
                  <a:srgbClr val="1A2C5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👥  </a:t>
            </a:r>
            <a:r>
              <a:t>Нет разграничения</a:t>
            </a:r>
          </a:p>
        </p:txBody>
      </p:sp>
      <p:sp>
        <p:nvSpPr>
          <p:cNvPr id="48" name="Text 17"/>
          <p:cNvSpPr txBox="1"/>
          <p:nvPr/>
        </p:nvSpPr>
        <p:spPr>
          <a:xfrm>
            <a:off x="457199" y="4330192"/>
            <a:ext cx="37490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Все сотрудники имеют одинаковый доступ к данным</a:t>
            </a:r>
          </a:p>
        </p:txBody>
      </p:sp>
      <p:sp>
        <p:nvSpPr>
          <p:cNvPr id="49" name="Shape 18"/>
          <p:cNvSpPr/>
          <p:nvPr/>
        </p:nvSpPr>
        <p:spPr>
          <a:xfrm>
            <a:off x="4663440" y="777240"/>
            <a:ext cx="4297681" cy="4114801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" name="Text 19"/>
          <p:cNvSpPr txBox="1"/>
          <p:nvPr/>
        </p:nvSpPr>
        <p:spPr>
          <a:xfrm>
            <a:off x="4754879" y="968179"/>
            <a:ext cx="41148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4FC3F7"/>
                </a:solidFill>
              </a:defRPr>
            </a:lvl1pPr>
          </a:lstStyle>
          <a:p>
            <a:pPr/>
            <a:r>
              <a:t>ЦЕЛЬ РАБОТЫ</a:t>
            </a:r>
          </a:p>
        </p:txBody>
      </p:sp>
      <p:sp>
        <p:nvSpPr>
          <p:cNvPr id="51" name="Text 20"/>
          <p:cNvSpPr txBox="1"/>
          <p:nvPr/>
        </p:nvSpPr>
        <p:spPr>
          <a:xfrm>
            <a:off x="4800600" y="1779446"/>
            <a:ext cx="4023360" cy="464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Разработка информационной системы складского учёта и анализа товарных запасов на основе Java 21, JavaFX и MySQL, обеспечивающей автоматизацию ключевых складских процессов.</a:t>
            </a:r>
          </a:p>
        </p:txBody>
      </p:sp>
      <p:sp>
        <p:nvSpPr>
          <p:cNvPr id="52" name="Text 21"/>
          <p:cNvSpPr txBox="1"/>
          <p:nvPr/>
        </p:nvSpPr>
        <p:spPr>
          <a:xfrm>
            <a:off x="4800600" y="2858946"/>
            <a:ext cx="402336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4FC3F7"/>
                </a:solidFill>
              </a:defRPr>
            </a:lvl1pPr>
          </a:lstStyle>
          <a:p>
            <a:pPr/>
            <a:r>
              <a:t>ЗАДАЧИ:</a:t>
            </a:r>
          </a:p>
        </p:txBody>
      </p:sp>
      <p:sp>
        <p:nvSpPr>
          <p:cNvPr id="53" name="Text 22"/>
          <p:cNvSpPr txBox="1"/>
          <p:nvPr/>
        </p:nvSpPr>
        <p:spPr>
          <a:xfrm>
            <a:off x="4800600" y="3493814"/>
            <a:ext cx="4023360" cy="784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400"/>
              </a:spcBef>
              <a:buSzPct val="100000"/>
              <a:buChar char="•"/>
              <a:defRPr sz="1000">
                <a:solidFill>
                  <a:srgbClr val="FFFFFF"/>
                </a:solidFill>
              </a:defRPr>
            </a:pPr>
            <a:r>
              <a:t>Анализ предметной области и обзор существующих решений</a:t>
            </a:r>
          </a:p>
          <a:p>
            <a:pPr marL="342900" indent="-342900">
              <a:spcBef>
                <a:spcPts val="400"/>
              </a:spcBef>
              <a:buSzPct val="100000"/>
              <a:buChar char="•"/>
              <a:defRPr sz="1000">
                <a:solidFill>
                  <a:srgbClr val="FFFFFF"/>
                </a:solidFill>
              </a:defRPr>
            </a:pPr>
            <a:r>
              <a:t>Проектирование БД и архитектуры системы</a:t>
            </a:r>
          </a:p>
          <a:p>
            <a:pPr marL="342900" indent="-342900">
              <a:spcBef>
                <a:spcPts val="400"/>
              </a:spcBef>
              <a:buSzPct val="100000"/>
              <a:buChar char="•"/>
              <a:defRPr sz="1000">
                <a:solidFill>
                  <a:srgbClr val="FFFFFF"/>
                </a:solidFill>
              </a:defRPr>
            </a:pPr>
            <a:r>
              <a:t>Реализация всех функциональных модулей</a:t>
            </a:r>
          </a:p>
          <a:p>
            <a:pPr marL="342900" indent="-342900">
              <a:spcBef>
                <a:spcPts val="400"/>
              </a:spcBef>
              <a:buSzPct val="100000"/>
              <a:buChar char="•"/>
              <a:defRPr sz="1000">
                <a:solidFill>
                  <a:srgbClr val="FFFFFF"/>
                </a:solidFill>
              </a:defRPr>
            </a:pPr>
            <a:r>
              <a:t>Тестирование и оценка результатов</a:t>
            </a:r>
          </a:p>
        </p:txBody>
      </p:sp>
      <p:sp>
        <p:nvSpPr>
          <p:cNvPr id="54" name="Text 23"/>
          <p:cNvSpPr txBox="1"/>
          <p:nvPr/>
        </p:nvSpPr>
        <p:spPr>
          <a:xfrm>
            <a:off x="8595359" y="4828539"/>
            <a:ext cx="365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7A8AA0"/>
                </a:solidFill>
              </a:defRPr>
            </a:lvl1pPr>
          </a:lstStyle>
          <a:p>
            <a:pPr/>
            <a:r>
              <a:t>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0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Text 1"/>
          <p:cNvSpPr txBox="1"/>
          <p:nvPr/>
        </p:nvSpPr>
        <p:spPr>
          <a:xfrm>
            <a:off x="365760" y="309968"/>
            <a:ext cx="8595360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1A2C5B"/>
                </a:solidFill>
              </a:defRPr>
            </a:lvl1pPr>
          </a:lstStyle>
          <a:p>
            <a:pPr/>
            <a:r>
              <a:t>ОБЗОР СУЩЕСТВУЮЩИХ РЕШЕНИЙ</a:t>
            </a:r>
          </a:p>
        </p:txBody>
      </p:sp>
      <p:sp>
        <p:nvSpPr>
          <p:cNvPr id="58" name="Shape 2"/>
          <p:cNvSpPr/>
          <p:nvPr/>
        </p:nvSpPr>
        <p:spPr>
          <a:xfrm>
            <a:off x="320039" y="822960"/>
            <a:ext cx="8641082" cy="384049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Text 3"/>
          <p:cNvSpPr txBox="1"/>
          <p:nvPr/>
        </p:nvSpPr>
        <p:spPr>
          <a:xfrm>
            <a:off x="365759" y="895648"/>
            <a:ext cx="2194562" cy="2386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Решение</a:t>
            </a:r>
          </a:p>
        </p:txBody>
      </p:sp>
      <p:sp>
        <p:nvSpPr>
          <p:cNvPr id="60" name="Text 4"/>
          <p:cNvSpPr txBox="1"/>
          <p:nvPr/>
        </p:nvSpPr>
        <p:spPr>
          <a:xfrm>
            <a:off x="2606039" y="895648"/>
            <a:ext cx="3200401" cy="2386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Преимущества</a:t>
            </a:r>
          </a:p>
        </p:txBody>
      </p:sp>
      <p:sp>
        <p:nvSpPr>
          <p:cNvPr id="61" name="Text 5"/>
          <p:cNvSpPr txBox="1"/>
          <p:nvPr/>
        </p:nvSpPr>
        <p:spPr>
          <a:xfrm>
            <a:off x="5852159" y="895648"/>
            <a:ext cx="3017521" cy="2386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Недостатки</a:t>
            </a:r>
          </a:p>
        </p:txBody>
      </p:sp>
      <p:sp>
        <p:nvSpPr>
          <p:cNvPr id="62" name="Shape 6"/>
          <p:cNvSpPr/>
          <p:nvPr/>
        </p:nvSpPr>
        <p:spPr>
          <a:xfrm>
            <a:off x="320039" y="1225296"/>
            <a:ext cx="8641082" cy="84124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" name="Text 7"/>
          <p:cNvSpPr txBox="1"/>
          <p:nvPr/>
        </p:nvSpPr>
        <p:spPr>
          <a:xfrm>
            <a:off x="411479" y="1577384"/>
            <a:ext cx="21031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A2C5B"/>
                </a:solidFill>
              </a:defRPr>
            </a:lvl1pPr>
          </a:lstStyle>
          <a:p>
            <a:pPr/>
            <a:r>
              <a:t>1С:Предприятие</a:t>
            </a:r>
          </a:p>
        </p:txBody>
      </p:sp>
      <p:sp>
        <p:nvSpPr>
          <p:cNvPr id="64" name="Text 8"/>
          <p:cNvSpPr txBox="1"/>
          <p:nvPr/>
        </p:nvSpPr>
        <p:spPr>
          <a:xfrm>
            <a:off x="2606039" y="1582420"/>
            <a:ext cx="31546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Глубокая интеграция с бухгалтерией, широкие возможности</a:t>
            </a:r>
          </a:p>
        </p:txBody>
      </p:sp>
      <p:sp>
        <p:nvSpPr>
          <p:cNvPr id="65" name="Text 9"/>
          <p:cNvSpPr txBox="1"/>
          <p:nvPr/>
        </p:nvSpPr>
        <p:spPr>
          <a:xfrm>
            <a:off x="5852159" y="1582420"/>
            <a:ext cx="2971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0392B"/>
                </a:solidFill>
              </a:defRPr>
            </a:lvl1pPr>
          </a:lstStyle>
          <a:p>
            <a:pPr/>
            <a:r>
              <a:t>Высокая стоимость, сложность настройки</a:t>
            </a:r>
          </a:p>
        </p:txBody>
      </p:sp>
      <p:sp>
        <p:nvSpPr>
          <p:cNvPr id="66" name="Shape 10"/>
          <p:cNvSpPr/>
          <p:nvPr/>
        </p:nvSpPr>
        <p:spPr>
          <a:xfrm>
            <a:off x="320039" y="2112264"/>
            <a:ext cx="8641082" cy="841249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" name="Text 11"/>
          <p:cNvSpPr txBox="1"/>
          <p:nvPr/>
        </p:nvSpPr>
        <p:spPr>
          <a:xfrm>
            <a:off x="411479" y="2381802"/>
            <a:ext cx="2103122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1A2C5B"/>
                </a:solidFill>
              </a:defRPr>
            </a:pPr>
            <a:r>
              <a:t>WMS-системы</a:t>
            </a:r>
          </a:p>
          <a:p>
            <a:pPr>
              <a:defRPr sz="1000">
                <a:solidFill>
                  <a:srgbClr val="1A2C5B"/>
                </a:solidFill>
              </a:defRPr>
            </a:pPr>
            <a:r>
              <a:t>(Manhattan, Oracle)</a:t>
            </a:r>
          </a:p>
        </p:txBody>
      </p:sp>
      <p:sp>
        <p:nvSpPr>
          <p:cNvPr id="68" name="Text 12"/>
          <p:cNvSpPr txBox="1"/>
          <p:nvPr/>
        </p:nvSpPr>
        <p:spPr>
          <a:xfrm>
            <a:off x="2606039" y="2469388"/>
            <a:ext cx="31546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Управление крупными складами, полная автоматизация</a:t>
            </a:r>
          </a:p>
        </p:txBody>
      </p:sp>
      <p:sp>
        <p:nvSpPr>
          <p:cNvPr id="69" name="Text 13"/>
          <p:cNvSpPr txBox="1"/>
          <p:nvPr/>
        </p:nvSpPr>
        <p:spPr>
          <a:xfrm>
            <a:off x="5852159" y="2469388"/>
            <a:ext cx="2971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0392B"/>
                </a:solidFill>
              </a:defRPr>
            </a:lvl1pPr>
          </a:lstStyle>
          <a:p>
            <a:pPr/>
            <a:r>
              <a:t>Требует значительных затрат на внедрение</a:t>
            </a:r>
          </a:p>
        </p:txBody>
      </p:sp>
      <p:sp>
        <p:nvSpPr>
          <p:cNvPr id="70" name="Shape 14"/>
          <p:cNvSpPr/>
          <p:nvPr/>
        </p:nvSpPr>
        <p:spPr>
          <a:xfrm>
            <a:off x="320039" y="2999232"/>
            <a:ext cx="8641082" cy="84124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15"/>
          <p:cNvSpPr txBox="1"/>
          <p:nvPr/>
        </p:nvSpPr>
        <p:spPr>
          <a:xfrm>
            <a:off x="411479" y="3351320"/>
            <a:ext cx="21031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A2C5B"/>
                </a:solidFill>
              </a:defRPr>
            </a:lvl1pPr>
          </a:lstStyle>
          <a:p>
            <a:pPr/>
            <a:r>
              <a:t>МойСклад / ЕКАМ</a:t>
            </a:r>
          </a:p>
        </p:txBody>
      </p:sp>
      <p:sp>
        <p:nvSpPr>
          <p:cNvPr id="72" name="Text 16"/>
          <p:cNvSpPr txBox="1"/>
          <p:nvPr/>
        </p:nvSpPr>
        <p:spPr>
          <a:xfrm>
            <a:off x="2606039" y="3356355"/>
            <a:ext cx="31546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Простота, доступная цена, облако</a:t>
            </a:r>
          </a:p>
        </p:txBody>
      </p:sp>
      <p:sp>
        <p:nvSpPr>
          <p:cNvPr id="73" name="Text 17"/>
          <p:cNvSpPr txBox="1"/>
          <p:nvPr/>
        </p:nvSpPr>
        <p:spPr>
          <a:xfrm>
            <a:off x="5852159" y="3356355"/>
            <a:ext cx="2971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C0392B"/>
                </a:solidFill>
              </a:defRPr>
            </a:lvl1pPr>
          </a:lstStyle>
          <a:p>
            <a:pPr/>
            <a:r>
              <a:t>Ограниченная кастомизация, зависимость от интернета</a:t>
            </a:r>
          </a:p>
        </p:txBody>
      </p:sp>
      <p:sp>
        <p:nvSpPr>
          <p:cNvPr id="74" name="Shape 18"/>
          <p:cNvSpPr/>
          <p:nvPr/>
        </p:nvSpPr>
        <p:spPr>
          <a:xfrm>
            <a:off x="320039" y="3886200"/>
            <a:ext cx="8641082" cy="841248"/>
          </a:xfrm>
          <a:prstGeom prst="rect">
            <a:avLst/>
          </a:prstGeom>
          <a:solidFill>
            <a:srgbClr val="E8F4FD"/>
          </a:solidFill>
          <a:ln w="12700">
            <a:solidFill>
              <a:srgbClr val="2E5BB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" name="Shape 19"/>
          <p:cNvSpPr/>
          <p:nvPr/>
        </p:nvSpPr>
        <p:spPr>
          <a:xfrm>
            <a:off x="320040" y="3886200"/>
            <a:ext cx="54865" cy="84124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Text 20"/>
          <p:cNvSpPr txBox="1"/>
          <p:nvPr/>
        </p:nvSpPr>
        <p:spPr>
          <a:xfrm>
            <a:off x="411479" y="4238288"/>
            <a:ext cx="21031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2E5BBA"/>
                </a:solidFill>
              </a:defRPr>
            </a:lvl1pPr>
          </a:lstStyle>
          <a:p>
            <a:pPr/>
            <a:r>
              <a:t>Разрабатываемая ИС</a:t>
            </a:r>
          </a:p>
        </p:txBody>
      </p:sp>
      <p:sp>
        <p:nvSpPr>
          <p:cNvPr id="77" name="Text 21"/>
          <p:cNvSpPr txBox="1"/>
          <p:nvPr/>
        </p:nvSpPr>
        <p:spPr>
          <a:xfrm>
            <a:off x="2606039" y="4243323"/>
            <a:ext cx="31546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Под конкретные задачи, Java+MySQL, бесплатно</a:t>
            </a:r>
          </a:p>
        </p:txBody>
      </p:sp>
      <p:sp>
        <p:nvSpPr>
          <p:cNvPr id="78" name="Text 22"/>
          <p:cNvSpPr txBox="1"/>
          <p:nvPr/>
        </p:nvSpPr>
        <p:spPr>
          <a:xfrm>
            <a:off x="5852159" y="4243323"/>
            <a:ext cx="2971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A8AA0"/>
                </a:solidFill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79" name="Text 23"/>
          <p:cNvSpPr txBox="1"/>
          <p:nvPr/>
        </p:nvSpPr>
        <p:spPr>
          <a:xfrm>
            <a:off x="8595359" y="4828539"/>
            <a:ext cx="365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7A8AA0"/>
                </a:solidFill>
              </a:defRPr>
            </a:lvl1pPr>
          </a:lstStyle>
          <a:p>
            <a:pPr/>
            <a:r>
              <a:t>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0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Text 1"/>
          <p:cNvSpPr txBox="1"/>
          <p:nvPr/>
        </p:nvSpPr>
        <p:spPr>
          <a:xfrm>
            <a:off x="365760" y="309968"/>
            <a:ext cx="8595360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1A2C5B"/>
                </a:solidFill>
              </a:defRPr>
            </a:lvl1pPr>
          </a:lstStyle>
          <a:p>
            <a:pPr/>
            <a:r>
              <a:t>СТРУКТУРА БАЗЫ ДАННЫХ</a:t>
            </a:r>
          </a:p>
        </p:txBody>
      </p:sp>
      <p:sp>
        <p:nvSpPr>
          <p:cNvPr id="83" name="Text 2"/>
          <p:cNvSpPr txBox="1"/>
          <p:nvPr/>
        </p:nvSpPr>
        <p:spPr>
          <a:xfrm>
            <a:off x="365760" y="717848"/>
            <a:ext cx="850392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7A8AA0"/>
                </a:solidFill>
              </a:defRPr>
            </a:lvl1pPr>
          </a:lstStyle>
          <a:p>
            <a:pPr/>
            <a:r>
              <a:t>СУБД MySQL 8  |  База данных: warehouse_system  |  7 таблиц</a:t>
            </a:r>
          </a:p>
        </p:txBody>
      </p:sp>
      <p:sp>
        <p:nvSpPr>
          <p:cNvPr id="84" name="Shape 3"/>
          <p:cNvSpPr/>
          <p:nvPr/>
        </p:nvSpPr>
        <p:spPr>
          <a:xfrm>
            <a:off x="320039" y="1005839"/>
            <a:ext cx="2560322" cy="320041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Text 4"/>
          <p:cNvSpPr txBox="1"/>
          <p:nvPr/>
        </p:nvSpPr>
        <p:spPr>
          <a:xfrm>
            <a:off x="365759" y="1097324"/>
            <a:ext cx="246888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products</a:t>
            </a:r>
          </a:p>
        </p:txBody>
      </p:sp>
      <p:sp>
        <p:nvSpPr>
          <p:cNvPr id="86" name="Shape 5"/>
          <p:cNvSpPr/>
          <p:nvPr/>
        </p:nvSpPr>
        <p:spPr>
          <a:xfrm>
            <a:off x="320039" y="1325880"/>
            <a:ext cx="2560322" cy="731521"/>
          </a:xfrm>
          <a:prstGeom prst="rect">
            <a:avLst/>
          </a:prstGeom>
          <a:solidFill>
            <a:srgbClr val="F4F6FB"/>
          </a:solidFill>
          <a:ln w="12700">
            <a:solidFill>
              <a:srgbClr val="C8D6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7" name="Text 6"/>
          <p:cNvSpPr txBox="1"/>
          <p:nvPr/>
        </p:nvSpPr>
        <p:spPr>
          <a:xfrm>
            <a:off x="393191" y="1571279"/>
            <a:ext cx="2414018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800">
                <a:solidFill>
                  <a:srgbClr val="3A3A3A"/>
                </a:solidFill>
              </a:defRPr>
            </a:pPr>
            <a:r>
              <a:t>id, name, category</a:t>
            </a:r>
          </a:p>
          <a:p>
            <a:pPr>
              <a:defRPr sz="800">
                <a:solidFill>
                  <a:srgbClr val="3A3A3A"/>
                </a:solidFill>
              </a:defRPr>
            </a:pPr>
            <a:r>
              <a:t>unit, quantity, min_quantity, price</a:t>
            </a:r>
          </a:p>
        </p:txBody>
      </p:sp>
      <p:sp>
        <p:nvSpPr>
          <p:cNvPr id="88" name="Shape 7"/>
          <p:cNvSpPr/>
          <p:nvPr/>
        </p:nvSpPr>
        <p:spPr>
          <a:xfrm>
            <a:off x="3315080" y="995739"/>
            <a:ext cx="2194562" cy="320042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Text 8"/>
          <p:cNvSpPr txBox="1"/>
          <p:nvPr/>
        </p:nvSpPr>
        <p:spPr>
          <a:xfrm>
            <a:off x="3520439" y="1087224"/>
            <a:ext cx="21031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90" name="Shape 9"/>
          <p:cNvSpPr/>
          <p:nvPr/>
        </p:nvSpPr>
        <p:spPr>
          <a:xfrm>
            <a:off x="3315080" y="1328480"/>
            <a:ext cx="2194562" cy="594361"/>
          </a:xfrm>
          <a:prstGeom prst="rect">
            <a:avLst/>
          </a:prstGeom>
          <a:solidFill>
            <a:srgbClr val="F4F6FB"/>
          </a:solidFill>
          <a:ln w="12700">
            <a:solidFill>
              <a:srgbClr val="C8D6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Text 10"/>
          <p:cNvSpPr txBox="1"/>
          <p:nvPr/>
        </p:nvSpPr>
        <p:spPr>
          <a:xfrm>
            <a:off x="3388233" y="1489469"/>
            <a:ext cx="2048257" cy="23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800">
                <a:solidFill>
                  <a:srgbClr val="3A3A3A"/>
                </a:solidFill>
              </a:defRPr>
            </a:pPr>
            <a:r>
              <a:t>id, full_name</a:t>
            </a:r>
          </a:p>
          <a:p>
            <a:pPr>
              <a:defRPr sz="800">
                <a:solidFill>
                  <a:srgbClr val="3A3A3A"/>
                </a:solidFill>
              </a:defRPr>
            </a:pPr>
            <a:r>
              <a:t>login, password, role</a:t>
            </a:r>
          </a:p>
        </p:txBody>
      </p:sp>
      <p:sp>
        <p:nvSpPr>
          <p:cNvPr id="92" name="Shape 11"/>
          <p:cNvSpPr/>
          <p:nvPr/>
        </p:nvSpPr>
        <p:spPr>
          <a:xfrm>
            <a:off x="5864860" y="1023575"/>
            <a:ext cx="2286001" cy="320041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3" name="Text 12"/>
          <p:cNvSpPr txBox="1"/>
          <p:nvPr/>
        </p:nvSpPr>
        <p:spPr>
          <a:xfrm>
            <a:off x="5910579" y="1097324"/>
            <a:ext cx="21945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suppliers</a:t>
            </a:r>
          </a:p>
        </p:txBody>
      </p:sp>
      <p:sp>
        <p:nvSpPr>
          <p:cNvPr id="94" name="Shape 13"/>
          <p:cNvSpPr/>
          <p:nvPr/>
        </p:nvSpPr>
        <p:spPr>
          <a:xfrm>
            <a:off x="5864860" y="1325880"/>
            <a:ext cx="2286001" cy="594361"/>
          </a:xfrm>
          <a:prstGeom prst="rect">
            <a:avLst/>
          </a:prstGeom>
          <a:solidFill>
            <a:srgbClr val="F4F6FB"/>
          </a:solidFill>
          <a:ln w="12700">
            <a:solidFill>
              <a:srgbClr val="C8D6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Text 14"/>
          <p:cNvSpPr txBox="1"/>
          <p:nvPr/>
        </p:nvSpPr>
        <p:spPr>
          <a:xfrm>
            <a:off x="5938011" y="1489469"/>
            <a:ext cx="2139697" cy="23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800">
                <a:solidFill>
                  <a:srgbClr val="3A3A3A"/>
                </a:solidFill>
              </a:defRPr>
            </a:pPr>
            <a:r>
              <a:t>id, name</a:t>
            </a:r>
          </a:p>
          <a:p>
            <a:pPr>
              <a:defRPr sz="800">
                <a:solidFill>
                  <a:srgbClr val="3A3A3A"/>
                </a:solidFill>
              </a:defRPr>
            </a:pPr>
            <a:r>
              <a:t>phone, address</a:t>
            </a:r>
          </a:p>
        </p:txBody>
      </p:sp>
      <p:sp>
        <p:nvSpPr>
          <p:cNvPr id="96" name="Shape 15"/>
          <p:cNvSpPr/>
          <p:nvPr/>
        </p:nvSpPr>
        <p:spPr>
          <a:xfrm>
            <a:off x="320039" y="2560320"/>
            <a:ext cx="2560322" cy="320041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Text 16"/>
          <p:cNvSpPr txBox="1"/>
          <p:nvPr/>
        </p:nvSpPr>
        <p:spPr>
          <a:xfrm>
            <a:off x="365759" y="2651804"/>
            <a:ext cx="246888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receipts</a:t>
            </a:r>
          </a:p>
        </p:txBody>
      </p:sp>
      <p:sp>
        <p:nvSpPr>
          <p:cNvPr id="98" name="Shape 17"/>
          <p:cNvSpPr/>
          <p:nvPr/>
        </p:nvSpPr>
        <p:spPr>
          <a:xfrm>
            <a:off x="320039" y="2880360"/>
            <a:ext cx="2560322" cy="640081"/>
          </a:xfrm>
          <a:prstGeom prst="rect">
            <a:avLst/>
          </a:prstGeom>
          <a:solidFill>
            <a:srgbClr val="F4F6FB"/>
          </a:solidFill>
          <a:ln w="12700">
            <a:solidFill>
              <a:srgbClr val="C8D6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Text 18"/>
          <p:cNvSpPr txBox="1"/>
          <p:nvPr/>
        </p:nvSpPr>
        <p:spPr>
          <a:xfrm>
            <a:off x="393191" y="3080039"/>
            <a:ext cx="2414018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800">
                <a:solidFill>
                  <a:srgbClr val="3A3A3A"/>
                </a:solidFill>
              </a:defRPr>
            </a:pPr>
            <a:r>
              <a:t>id, product_id</a:t>
            </a:r>
          </a:p>
          <a:p>
            <a:pPr>
              <a:defRPr sz="800">
                <a:solidFill>
                  <a:srgbClr val="3A3A3A"/>
                </a:solidFill>
              </a:defRPr>
            </a:pPr>
            <a:r>
              <a:t>supplier_id, quantity, receipt_date</a:t>
            </a:r>
          </a:p>
        </p:txBody>
      </p:sp>
      <p:sp>
        <p:nvSpPr>
          <p:cNvPr id="100" name="Shape 19"/>
          <p:cNvSpPr/>
          <p:nvPr/>
        </p:nvSpPr>
        <p:spPr>
          <a:xfrm>
            <a:off x="3132201" y="2548399"/>
            <a:ext cx="2560321" cy="320041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Text 20"/>
          <p:cNvSpPr txBox="1"/>
          <p:nvPr/>
        </p:nvSpPr>
        <p:spPr>
          <a:xfrm>
            <a:off x="3337559" y="2651804"/>
            <a:ext cx="24688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expenses</a:t>
            </a:r>
          </a:p>
        </p:txBody>
      </p:sp>
      <p:sp>
        <p:nvSpPr>
          <p:cNvPr id="102" name="Shape 21"/>
          <p:cNvSpPr/>
          <p:nvPr/>
        </p:nvSpPr>
        <p:spPr>
          <a:xfrm>
            <a:off x="3132201" y="2880360"/>
            <a:ext cx="2560321" cy="640081"/>
          </a:xfrm>
          <a:prstGeom prst="rect">
            <a:avLst/>
          </a:prstGeom>
          <a:solidFill>
            <a:srgbClr val="F4F6FB"/>
          </a:solidFill>
          <a:ln w="12700">
            <a:solidFill>
              <a:srgbClr val="C8D6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3" name="Text 22"/>
          <p:cNvSpPr txBox="1"/>
          <p:nvPr/>
        </p:nvSpPr>
        <p:spPr>
          <a:xfrm>
            <a:off x="3364991" y="3012803"/>
            <a:ext cx="2414017" cy="23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800">
                <a:solidFill>
                  <a:srgbClr val="3A3A3A"/>
                </a:solidFill>
              </a:defRPr>
            </a:pPr>
            <a:r>
              <a:t>id, product_id</a:t>
            </a:r>
          </a:p>
          <a:p>
            <a:pPr>
              <a:defRPr sz="800">
                <a:solidFill>
                  <a:srgbClr val="3A3A3A"/>
                </a:solidFill>
              </a:defRPr>
            </a:pPr>
            <a:r>
              <a:t>quantity, expense_date, reason</a:t>
            </a:r>
          </a:p>
        </p:txBody>
      </p:sp>
      <p:sp>
        <p:nvSpPr>
          <p:cNvPr id="104" name="Shape 23"/>
          <p:cNvSpPr/>
          <p:nvPr/>
        </p:nvSpPr>
        <p:spPr>
          <a:xfrm>
            <a:off x="5864860" y="2549525"/>
            <a:ext cx="2286001" cy="320041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5" name="Text 24"/>
          <p:cNvSpPr txBox="1"/>
          <p:nvPr/>
        </p:nvSpPr>
        <p:spPr>
          <a:xfrm>
            <a:off x="5910579" y="2641009"/>
            <a:ext cx="21945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orders</a:t>
            </a:r>
          </a:p>
        </p:txBody>
      </p:sp>
      <p:sp>
        <p:nvSpPr>
          <p:cNvPr id="106" name="Shape 25"/>
          <p:cNvSpPr/>
          <p:nvPr/>
        </p:nvSpPr>
        <p:spPr>
          <a:xfrm>
            <a:off x="5864860" y="2884080"/>
            <a:ext cx="2286001" cy="640081"/>
          </a:xfrm>
          <a:prstGeom prst="rect">
            <a:avLst/>
          </a:prstGeom>
          <a:solidFill>
            <a:srgbClr val="F4F6FB"/>
          </a:solidFill>
          <a:ln w="12700">
            <a:solidFill>
              <a:srgbClr val="C8D6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Text 26"/>
          <p:cNvSpPr txBox="1"/>
          <p:nvPr/>
        </p:nvSpPr>
        <p:spPr>
          <a:xfrm>
            <a:off x="5938011" y="3084611"/>
            <a:ext cx="2139697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800">
                <a:solidFill>
                  <a:srgbClr val="3A3A3A"/>
                </a:solidFill>
              </a:defRPr>
            </a:pPr>
            <a:r>
              <a:t>id, user_id</a:t>
            </a:r>
          </a:p>
          <a:p>
            <a:pPr>
              <a:defRPr sz="800">
                <a:solidFill>
                  <a:srgbClr val="3A3A3A"/>
                </a:solidFill>
              </a:defRPr>
            </a:pPr>
            <a:r>
              <a:t>status, total_price, order_date</a:t>
            </a:r>
          </a:p>
        </p:txBody>
      </p:sp>
      <p:sp>
        <p:nvSpPr>
          <p:cNvPr id="108" name="Shape 27"/>
          <p:cNvSpPr/>
          <p:nvPr/>
        </p:nvSpPr>
        <p:spPr>
          <a:xfrm>
            <a:off x="3200400" y="3977640"/>
            <a:ext cx="2743200" cy="320041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9" name="Text 28"/>
          <p:cNvSpPr txBox="1"/>
          <p:nvPr/>
        </p:nvSpPr>
        <p:spPr>
          <a:xfrm>
            <a:off x="3246120" y="4069124"/>
            <a:ext cx="2651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order_items</a:t>
            </a:r>
          </a:p>
        </p:txBody>
      </p:sp>
      <p:sp>
        <p:nvSpPr>
          <p:cNvPr id="110" name="Shape 29"/>
          <p:cNvSpPr/>
          <p:nvPr/>
        </p:nvSpPr>
        <p:spPr>
          <a:xfrm>
            <a:off x="3200400" y="4297679"/>
            <a:ext cx="2743200" cy="594361"/>
          </a:xfrm>
          <a:prstGeom prst="rect">
            <a:avLst/>
          </a:prstGeom>
          <a:solidFill>
            <a:srgbClr val="F4F6FB"/>
          </a:solidFill>
          <a:ln w="12700">
            <a:solidFill>
              <a:srgbClr val="C8D6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1" name="Text 30"/>
          <p:cNvSpPr txBox="1"/>
          <p:nvPr/>
        </p:nvSpPr>
        <p:spPr>
          <a:xfrm>
            <a:off x="3273552" y="4474499"/>
            <a:ext cx="2596897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800">
                <a:solidFill>
                  <a:srgbClr val="3A3A3A"/>
                </a:solidFill>
              </a:defRPr>
            </a:pPr>
            <a:r>
              <a:t>id, order_id, product_id</a:t>
            </a:r>
          </a:p>
          <a:p>
            <a:pPr>
              <a:defRPr sz="800">
                <a:solidFill>
                  <a:srgbClr val="3A3A3A"/>
                </a:solidFill>
              </a:defRPr>
            </a:pPr>
            <a:r>
              <a:t>quantity, price</a:t>
            </a:r>
          </a:p>
        </p:txBody>
      </p:sp>
      <p:sp>
        <p:nvSpPr>
          <p:cNvPr id="112" name="Text 31"/>
          <p:cNvSpPr txBox="1"/>
          <p:nvPr/>
        </p:nvSpPr>
        <p:spPr>
          <a:xfrm>
            <a:off x="411480" y="2294277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700">
                <a:solidFill>
                  <a:srgbClr val="2E5BBA"/>
                </a:solidFill>
              </a:defRPr>
            </a:lvl1pPr>
          </a:lstStyle>
          <a:p>
            <a:pPr/>
            <a:r>
              <a:t>FK: product_id →</a:t>
            </a:r>
          </a:p>
        </p:txBody>
      </p:sp>
      <p:sp>
        <p:nvSpPr>
          <p:cNvPr id="113" name="Text 32"/>
          <p:cNvSpPr txBox="1"/>
          <p:nvPr/>
        </p:nvSpPr>
        <p:spPr>
          <a:xfrm>
            <a:off x="411480" y="2439670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700">
                <a:solidFill>
                  <a:srgbClr val="2E5BBA"/>
                </a:solidFill>
              </a:defRPr>
            </a:lvl1pPr>
          </a:lstStyle>
          <a:p>
            <a:pPr/>
            <a:r>
              <a:t>FK: supplier_id →</a:t>
            </a:r>
          </a:p>
        </p:txBody>
      </p:sp>
      <p:sp>
        <p:nvSpPr>
          <p:cNvPr id="114" name="Text 33"/>
          <p:cNvSpPr txBox="1"/>
          <p:nvPr/>
        </p:nvSpPr>
        <p:spPr>
          <a:xfrm>
            <a:off x="3246120" y="2405379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700">
                <a:solidFill>
                  <a:srgbClr val="2E5BBA"/>
                </a:solidFill>
              </a:defRPr>
            </a:lvl1pPr>
          </a:lstStyle>
          <a:p>
            <a:pPr/>
            <a:r>
              <a:t>FK: product_id →</a:t>
            </a:r>
          </a:p>
        </p:txBody>
      </p:sp>
      <p:sp>
        <p:nvSpPr>
          <p:cNvPr id="115" name="Text 34"/>
          <p:cNvSpPr txBox="1"/>
          <p:nvPr/>
        </p:nvSpPr>
        <p:spPr>
          <a:xfrm>
            <a:off x="5884041" y="2409540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700">
                <a:solidFill>
                  <a:srgbClr val="2E5BBA"/>
                </a:solidFill>
              </a:defRPr>
            </a:lvl1pPr>
          </a:lstStyle>
          <a:p>
            <a:pPr/>
            <a:r>
              <a:t>FK: user_id →</a:t>
            </a:r>
          </a:p>
        </p:txBody>
      </p:sp>
      <p:sp>
        <p:nvSpPr>
          <p:cNvPr id="116" name="Text 35"/>
          <p:cNvSpPr txBox="1"/>
          <p:nvPr/>
        </p:nvSpPr>
        <p:spPr>
          <a:xfrm>
            <a:off x="8595359" y="4828539"/>
            <a:ext cx="365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7A8AA0"/>
                </a:solidFill>
              </a:defRPr>
            </a:lvl1pPr>
          </a:lstStyle>
          <a:p>
            <a:pPr/>
            <a:r>
              <a:t>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0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9" name="Text 1"/>
          <p:cNvSpPr txBox="1"/>
          <p:nvPr/>
        </p:nvSpPr>
        <p:spPr>
          <a:xfrm>
            <a:off x="365760" y="309968"/>
            <a:ext cx="8595360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1A2C5B"/>
                </a:solidFill>
              </a:defRPr>
            </a:lvl1pPr>
          </a:lstStyle>
          <a:p>
            <a:pPr/>
            <a:r>
              <a:t>АРХИТЕКТУРА ПРИЛОЖЕНИЯ (MVC)</a:t>
            </a:r>
          </a:p>
        </p:txBody>
      </p:sp>
      <p:sp>
        <p:nvSpPr>
          <p:cNvPr id="120" name="Shape 2"/>
          <p:cNvSpPr/>
          <p:nvPr/>
        </p:nvSpPr>
        <p:spPr>
          <a:xfrm>
            <a:off x="320040" y="822960"/>
            <a:ext cx="2743201" cy="5029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Text 3"/>
          <p:cNvSpPr txBox="1"/>
          <p:nvPr/>
        </p:nvSpPr>
        <p:spPr>
          <a:xfrm>
            <a:off x="365759" y="865440"/>
            <a:ext cx="265176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MODEL</a:t>
            </a:r>
          </a:p>
        </p:txBody>
      </p:sp>
      <p:sp>
        <p:nvSpPr>
          <p:cNvPr id="122" name="Text 4"/>
          <p:cNvSpPr txBox="1"/>
          <p:nvPr/>
        </p:nvSpPr>
        <p:spPr>
          <a:xfrm>
            <a:off x="365759" y="1134363"/>
            <a:ext cx="2651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4FC3F7"/>
                </a:solidFill>
              </a:defRPr>
            </a:lvl1pPr>
          </a:lstStyle>
          <a:p>
            <a:pPr/>
            <a:r>
              <a:t>Данные</a:t>
            </a:r>
          </a:p>
        </p:txBody>
      </p:sp>
      <p:sp>
        <p:nvSpPr>
          <p:cNvPr id="123" name="Shape 5"/>
          <p:cNvSpPr/>
          <p:nvPr/>
        </p:nvSpPr>
        <p:spPr>
          <a:xfrm>
            <a:off x="320040" y="1344167"/>
            <a:ext cx="2743201" cy="475488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4" name="Text 6"/>
          <p:cNvSpPr txBox="1"/>
          <p:nvPr/>
        </p:nvSpPr>
        <p:spPr>
          <a:xfrm>
            <a:off x="411479" y="1513839"/>
            <a:ext cx="25603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Product</a:t>
            </a:r>
          </a:p>
        </p:txBody>
      </p:sp>
      <p:sp>
        <p:nvSpPr>
          <p:cNvPr id="125" name="Shape 7"/>
          <p:cNvSpPr/>
          <p:nvPr/>
        </p:nvSpPr>
        <p:spPr>
          <a:xfrm>
            <a:off x="320040" y="1837944"/>
            <a:ext cx="2743201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Text 8"/>
          <p:cNvSpPr txBox="1"/>
          <p:nvPr/>
        </p:nvSpPr>
        <p:spPr>
          <a:xfrm>
            <a:off x="411479" y="2007616"/>
            <a:ext cx="25603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User</a:t>
            </a:r>
          </a:p>
        </p:txBody>
      </p:sp>
      <p:sp>
        <p:nvSpPr>
          <p:cNvPr id="127" name="Shape 9"/>
          <p:cNvSpPr/>
          <p:nvPr/>
        </p:nvSpPr>
        <p:spPr>
          <a:xfrm>
            <a:off x="320040" y="2331720"/>
            <a:ext cx="2743201" cy="475488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8" name="Text 10"/>
          <p:cNvSpPr txBox="1"/>
          <p:nvPr/>
        </p:nvSpPr>
        <p:spPr>
          <a:xfrm>
            <a:off x="411479" y="2501391"/>
            <a:ext cx="25603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Supplier</a:t>
            </a:r>
          </a:p>
        </p:txBody>
      </p:sp>
      <p:sp>
        <p:nvSpPr>
          <p:cNvPr id="129" name="Shape 11"/>
          <p:cNvSpPr/>
          <p:nvPr/>
        </p:nvSpPr>
        <p:spPr>
          <a:xfrm>
            <a:off x="320040" y="2825495"/>
            <a:ext cx="2743201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Text 12"/>
          <p:cNvSpPr txBox="1"/>
          <p:nvPr/>
        </p:nvSpPr>
        <p:spPr>
          <a:xfrm>
            <a:off x="411479" y="2995167"/>
            <a:ext cx="25603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Receipt</a:t>
            </a:r>
          </a:p>
        </p:txBody>
      </p:sp>
      <p:sp>
        <p:nvSpPr>
          <p:cNvPr id="131" name="Shape 13"/>
          <p:cNvSpPr/>
          <p:nvPr/>
        </p:nvSpPr>
        <p:spPr>
          <a:xfrm>
            <a:off x="320040" y="3319271"/>
            <a:ext cx="2743201" cy="475488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2" name="Text 14"/>
          <p:cNvSpPr txBox="1"/>
          <p:nvPr/>
        </p:nvSpPr>
        <p:spPr>
          <a:xfrm>
            <a:off x="411479" y="3488944"/>
            <a:ext cx="25603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Expense</a:t>
            </a:r>
          </a:p>
        </p:txBody>
      </p:sp>
      <p:sp>
        <p:nvSpPr>
          <p:cNvPr id="133" name="Shape 15"/>
          <p:cNvSpPr/>
          <p:nvPr/>
        </p:nvSpPr>
        <p:spPr>
          <a:xfrm>
            <a:off x="320040" y="3813047"/>
            <a:ext cx="2743201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Text 16"/>
          <p:cNvSpPr txBox="1"/>
          <p:nvPr/>
        </p:nvSpPr>
        <p:spPr>
          <a:xfrm>
            <a:off x="411479" y="3982720"/>
            <a:ext cx="25603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Order / OrderItem</a:t>
            </a:r>
          </a:p>
        </p:txBody>
      </p:sp>
      <p:sp>
        <p:nvSpPr>
          <p:cNvPr id="135" name="Shape 17"/>
          <p:cNvSpPr/>
          <p:nvPr/>
        </p:nvSpPr>
        <p:spPr>
          <a:xfrm>
            <a:off x="320040" y="4306823"/>
            <a:ext cx="2743201" cy="475488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Text 18"/>
          <p:cNvSpPr txBox="1"/>
          <p:nvPr/>
        </p:nvSpPr>
        <p:spPr>
          <a:xfrm>
            <a:off x="411479" y="4476496"/>
            <a:ext cx="25603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Database (JDBC)</a:t>
            </a:r>
          </a:p>
        </p:txBody>
      </p:sp>
      <p:sp>
        <p:nvSpPr>
          <p:cNvPr id="137" name="Shape 19"/>
          <p:cNvSpPr/>
          <p:nvPr/>
        </p:nvSpPr>
        <p:spPr>
          <a:xfrm>
            <a:off x="3246120" y="822960"/>
            <a:ext cx="2743201" cy="50292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Text 20"/>
          <p:cNvSpPr txBox="1"/>
          <p:nvPr/>
        </p:nvSpPr>
        <p:spPr>
          <a:xfrm>
            <a:off x="3291840" y="865440"/>
            <a:ext cx="265176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139" name="Text 21"/>
          <p:cNvSpPr txBox="1"/>
          <p:nvPr/>
        </p:nvSpPr>
        <p:spPr>
          <a:xfrm>
            <a:off x="3291840" y="1134363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4FC3F7"/>
                </a:solidFill>
              </a:defRPr>
            </a:lvl1pPr>
          </a:lstStyle>
          <a:p>
            <a:pPr/>
            <a:r>
              <a:t>Интерфейс</a:t>
            </a:r>
          </a:p>
        </p:txBody>
      </p:sp>
      <p:sp>
        <p:nvSpPr>
          <p:cNvPr id="140" name="Shape 22"/>
          <p:cNvSpPr/>
          <p:nvPr/>
        </p:nvSpPr>
        <p:spPr>
          <a:xfrm>
            <a:off x="3246120" y="1344167"/>
            <a:ext cx="2743201" cy="475488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1" name="Text 23"/>
          <p:cNvSpPr txBox="1"/>
          <p:nvPr/>
        </p:nvSpPr>
        <p:spPr>
          <a:xfrm>
            <a:off x="3337559" y="1513839"/>
            <a:ext cx="2560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login.fxml</a:t>
            </a:r>
          </a:p>
        </p:txBody>
      </p:sp>
      <p:sp>
        <p:nvSpPr>
          <p:cNvPr id="142" name="Shape 24"/>
          <p:cNvSpPr/>
          <p:nvPr/>
        </p:nvSpPr>
        <p:spPr>
          <a:xfrm>
            <a:off x="3246120" y="1837944"/>
            <a:ext cx="2743201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Text 25"/>
          <p:cNvSpPr txBox="1"/>
          <p:nvPr/>
        </p:nvSpPr>
        <p:spPr>
          <a:xfrm>
            <a:off x="3337559" y="2007616"/>
            <a:ext cx="2560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main.fxml</a:t>
            </a:r>
          </a:p>
        </p:txBody>
      </p:sp>
      <p:sp>
        <p:nvSpPr>
          <p:cNvPr id="144" name="Shape 26"/>
          <p:cNvSpPr/>
          <p:nvPr/>
        </p:nvSpPr>
        <p:spPr>
          <a:xfrm>
            <a:off x="3246120" y="2331720"/>
            <a:ext cx="2743201" cy="475488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Text 27"/>
          <p:cNvSpPr txBox="1"/>
          <p:nvPr/>
        </p:nvSpPr>
        <p:spPr>
          <a:xfrm>
            <a:off x="3337559" y="2501391"/>
            <a:ext cx="2560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main_products.fxml</a:t>
            </a:r>
          </a:p>
        </p:txBody>
      </p:sp>
      <p:sp>
        <p:nvSpPr>
          <p:cNvPr id="146" name="Shape 28"/>
          <p:cNvSpPr/>
          <p:nvPr/>
        </p:nvSpPr>
        <p:spPr>
          <a:xfrm>
            <a:off x="3246120" y="2825495"/>
            <a:ext cx="2743201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7" name="Text 29"/>
          <p:cNvSpPr txBox="1"/>
          <p:nvPr/>
        </p:nvSpPr>
        <p:spPr>
          <a:xfrm>
            <a:off x="3337559" y="2995167"/>
            <a:ext cx="2560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receipts_panel.fxml</a:t>
            </a:r>
          </a:p>
        </p:txBody>
      </p:sp>
      <p:sp>
        <p:nvSpPr>
          <p:cNvPr id="148" name="Shape 30"/>
          <p:cNvSpPr/>
          <p:nvPr/>
        </p:nvSpPr>
        <p:spPr>
          <a:xfrm>
            <a:off x="3246120" y="3319271"/>
            <a:ext cx="2743201" cy="475488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9" name="Text 31"/>
          <p:cNvSpPr txBox="1"/>
          <p:nvPr/>
        </p:nvSpPr>
        <p:spPr>
          <a:xfrm>
            <a:off x="3337559" y="3488944"/>
            <a:ext cx="2560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report_panel.fxml</a:t>
            </a:r>
          </a:p>
        </p:txBody>
      </p:sp>
      <p:sp>
        <p:nvSpPr>
          <p:cNvPr id="150" name="Shape 32"/>
          <p:cNvSpPr/>
          <p:nvPr/>
        </p:nvSpPr>
        <p:spPr>
          <a:xfrm>
            <a:off x="3246120" y="3813047"/>
            <a:ext cx="2743201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1" name="Text 33"/>
          <p:cNvSpPr txBox="1"/>
          <p:nvPr/>
        </p:nvSpPr>
        <p:spPr>
          <a:xfrm>
            <a:off x="3337559" y="3982720"/>
            <a:ext cx="2560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cart_panel.fxml</a:t>
            </a:r>
          </a:p>
        </p:txBody>
      </p:sp>
      <p:sp>
        <p:nvSpPr>
          <p:cNvPr id="152" name="Shape 34"/>
          <p:cNvSpPr/>
          <p:nvPr/>
        </p:nvSpPr>
        <p:spPr>
          <a:xfrm>
            <a:off x="3246120" y="4306823"/>
            <a:ext cx="2743201" cy="475488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Text 35"/>
          <p:cNvSpPr txBox="1"/>
          <p:nvPr/>
        </p:nvSpPr>
        <p:spPr>
          <a:xfrm>
            <a:off x="3337559" y="4476496"/>
            <a:ext cx="2560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styles.css</a:t>
            </a:r>
          </a:p>
        </p:txBody>
      </p:sp>
      <p:sp>
        <p:nvSpPr>
          <p:cNvPr id="154" name="Shape 36"/>
          <p:cNvSpPr/>
          <p:nvPr/>
        </p:nvSpPr>
        <p:spPr>
          <a:xfrm>
            <a:off x="6172200" y="822960"/>
            <a:ext cx="2743200" cy="50292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5" name="Text 37"/>
          <p:cNvSpPr txBox="1"/>
          <p:nvPr/>
        </p:nvSpPr>
        <p:spPr>
          <a:xfrm>
            <a:off x="6217920" y="865440"/>
            <a:ext cx="265176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CONTROLLER</a:t>
            </a:r>
          </a:p>
        </p:txBody>
      </p:sp>
      <p:sp>
        <p:nvSpPr>
          <p:cNvPr id="156" name="Text 38"/>
          <p:cNvSpPr txBox="1"/>
          <p:nvPr/>
        </p:nvSpPr>
        <p:spPr>
          <a:xfrm>
            <a:off x="6217920" y="1134363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4FC3F7"/>
                </a:solidFill>
              </a:defRPr>
            </a:lvl1pPr>
          </a:lstStyle>
          <a:p>
            <a:pPr/>
            <a:r>
              <a:t>Логика</a:t>
            </a:r>
          </a:p>
        </p:txBody>
      </p:sp>
      <p:sp>
        <p:nvSpPr>
          <p:cNvPr id="157" name="Shape 39"/>
          <p:cNvSpPr/>
          <p:nvPr/>
        </p:nvSpPr>
        <p:spPr>
          <a:xfrm>
            <a:off x="6172200" y="1344167"/>
            <a:ext cx="2743200" cy="475488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8" name="Text 40"/>
          <p:cNvSpPr txBox="1"/>
          <p:nvPr/>
        </p:nvSpPr>
        <p:spPr>
          <a:xfrm>
            <a:off x="6263640" y="1513839"/>
            <a:ext cx="2560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LoginController</a:t>
            </a:r>
          </a:p>
        </p:txBody>
      </p:sp>
      <p:sp>
        <p:nvSpPr>
          <p:cNvPr id="159" name="Shape 41"/>
          <p:cNvSpPr/>
          <p:nvPr/>
        </p:nvSpPr>
        <p:spPr>
          <a:xfrm>
            <a:off x="6172200" y="1837944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Text 42"/>
          <p:cNvSpPr txBox="1"/>
          <p:nvPr/>
        </p:nvSpPr>
        <p:spPr>
          <a:xfrm>
            <a:off x="6263640" y="2007616"/>
            <a:ext cx="2560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MainController</a:t>
            </a:r>
          </a:p>
        </p:txBody>
      </p:sp>
      <p:sp>
        <p:nvSpPr>
          <p:cNvPr id="161" name="Shape 43"/>
          <p:cNvSpPr/>
          <p:nvPr/>
        </p:nvSpPr>
        <p:spPr>
          <a:xfrm>
            <a:off x="6172200" y="2331720"/>
            <a:ext cx="2743200" cy="475488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2" name="Text 44"/>
          <p:cNvSpPr txBox="1"/>
          <p:nvPr/>
        </p:nvSpPr>
        <p:spPr>
          <a:xfrm>
            <a:off x="6263640" y="2501391"/>
            <a:ext cx="2560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ProductsPanelController</a:t>
            </a:r>
          </a:p>
        </p:txBody>
      </p:sp>
      <p:sp>
        <p:nvSpPr>
          <p:cNvPr id="163" name="Shape 45"/>
          <p:cNvSpPr/>
          <p:nvPr/>
        </p:nvSpPr>
        <p:spPr>
          <a:xfrm>
            <a:off x="6172200" y="2825495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Text 46"/>
          <p:cNvSpPr txBox="1"/>
          <p:nvPr/>
        </p:nvSpPr>
        <p:spPr>
          <a:xfrm>
            <a:off x="6263640" y="2995167"/>
            <a:ext cx="2560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ReceiptsPanelController</a:t>
            </a:r>
          </a:p>
        </p:txBody>
      </p:sp>
      <p:sp>
        <p:nvSpPr>
          <p:cNvPr id="165" name="Shape 47"/>
          <p:cNvSpPr/>
          <p:nvPr/>
        </p:nvSpPr>
        <p:spPr>
          <a:xfrm>
            <a:off x="6172200" y="3319271"/>
            <a:ext cx="2743200" cy="475488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Text 48"/>
          <p:cNvSpPr txBox="1"/>
          <p:nvPr/>
        </p:nvSpPr>
        <p:spPr>
          <a:xfrm>
            <a:off x="6263640" y="3488944"/>
            <a:ext cx="2560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ReportPanelController</a:t>
            </a:r>
          </a:p>
        </p:txBody>
      </p:sp>
      <p:sp>
        <p:nvSpPr>
          <p:cNvPr id="167" name="Shape 49"/>
          <p:cNvSpPr/>
          <p:nvPr/>
        </p:nvSpPr>
        <p:spPr>
          <a:xfrm>
            <a:off x="6172200" y="3813047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8" name="Text 50"/>
          <p:cNvSpPr txBox="1"/>
          <p:nvPr/>
        </p:nvSpPr>
        <p:spPr>
          <a:xfrm>
            <a:off x="6263640" y="3982720"/>
            <a:ext cx="2560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AdminOrdersPanelController</a:t>
            </a:r>
          </a:p>
        </p:txBody>
      </p:sp>
      <p:sp>
        <p:nvSpPr>
          <p:cNvPr id="169" name="Shape 51"/>
          <p:cNvSpPr/>
          <p:nvPr/>
        </p:nvSpPr>
        <p:spPr>
          <a:xfrm>
            <a:off x="6172200" y="4306823"/>
            <a:ext cx="2743200" cy="475488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Text 52"/>
          <p:cNvSpPr txBox="1"/>
          <p:nvPr/>
        </p:nvSpPr>
        <p:spPr>
          <a:xfrm>
            <a:off x="6263640" y="4476496"/>
            <a:ext cx="2560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UsersPanelController</a:t>
            </a:r>
          </a:p>
        </p:txBody>
      </p:sp>
      <p:sp>
        <p:nvSpPr>
          <p:cNvPr id="171" name="Shape 53"/>
          <p:cNvSpPr/>
          <p:nvPr/>
        </p:nvSpPr>
        <p:spPr>
          <a:xfrm>
            <a:off x="320039" y="4754879"/>
            <a:ext cx="8641082" cy="274321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Text 54"/>
          <p:cNvSpPr txBox="1"/>
          <p:nvPr/>
        </p:nvSpPr>
        <p:spPr>
          <a:xfrm>
            <a:off x="457199" y="4828539"/>
            <a:ext cx="8412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900">
                <a:solidFill>
                  <a:srgbClr val="7A8AA0"/>
                </a:solidFill>
              </a:defRPr>
            </a:lvl1pPr>
          </a:lstStyle>
          <a:p>
            <a:pPr/>
            <a:r>
              <a:t>Точка входа: MainApp → LoginController → MainController → панели разделов</a:t>
            </a:r>
          </a:p>
        </p:txBody>
      </p:sp>
      <p:sp>
        <p:nvSpPr>
          <p:cNvPr id="173" name="Text 55"/>
          <p:cNvSpPr txBox="1"/>
          <p:nvPr/>
        </p:nvSpPr>
        <p:spPr>
          <a:xfrm>
            <a:off x="8595359" y="4828539"/>
            <a:ext cx="365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7A8AA0"/>
                </a:solidFill>
              </a:defRPr>
            </a:lvl1pPr>
          </a:lstStyle>
          <a:p>
            <a:pPr/>
            <a:r>
              <a:t>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0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6" name="Text 1"/>
          <p:cNvSpPr txBox="1"/>
          <p:nvPr/>
        </p:nvSpPr>
        <p:spPr>
          <a:xfrm>
            <a:off x="365760" y="309968"/>
            <a:ext cx="8595360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1A2C5B"/>
                </a:solidFill>
              </a:defRPr>
            </a:lvl1pPr>
          </a:lstStyle>
          <a:p>
            <a:pPr/>
            <a:r>
              <a:t>РОЛЕВАЯ МОДЕЛЬ ДОСТУПА</a:t>
            </a:r>
          </a:p>
        </p:txBody>
      </p:sp>
      <p:sp>
        <p:nvSpPr>
          <p:cNvPr id="177" name="Shape 2"/>
          <p:cNvSpPr/>
          <p:nvPr/>
        </p:nvSpPr>
        <p:spPr>
          <a:xfrm>
            <a:off x="320039" y="822960"/>
            <a:ext cx="2788922" cy="50292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Text 3"/>
          <p:cNvSpPr txBox="1"/>
          <p:nvPr/>
        </p:nvSpPr>
        <p:spPr>
          <a:xfrm>
            <a:off x="365759" y="960119"/>
            <a:ext cx="269748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👑  </a:t>
            </a:r>
            <a:r>
              <a:t>АДМИНИСТРАТОР</a:t>
            </a:r>
          </a:p>
        </p:txBody>
      </p:sp>
      <p:sp>
        <p:nvSpPr>
          <p:cNvPr id="179" name="Shape 4"/>
          <p:cNvSpPr/>
          <p:nvPr/>
        </p:nvSpPr>
        <p:spPr>
          <a:xfrm>
            <a:off x="320039" y="1344167"/>
            <a:ext cx="2788922" cy="512065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0" name="Shape 5"/>
          <p:cNvSpPr/>
          <p:nvPr/>
        </p:nvSpPr>
        <p:spPr>
          <a:xfrm>
            <a:off x="320040" y="1344167"/>
            <a:ext cx="45721" cy="512065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1" name="Text 6"/>
          <p:cNvSpPr txBox="1"/>
          <p:nvPr/>
        </p:nvSpPr>
        <p:spPr>
          <a:xfrm>
            <a:off x="429768" y="1536699"/>
            <a:ext cx="26060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Управление товарами (CRUD)</a:t>
            </a:r>
          </a:p>
        </p:txBody>
      </p:sp>
      <p:sp>
        <p:nvSpPr>
          <p:cNvPr id="182" name="Shape 7"/>
          <p:cNvSpPr/>
          <p:nvPr/>
        </p:nvSpPr>
        <p:spPr>
          <a:xfrm>
            <a:off x="320039" y="1874520"/>
            <a:ext cx="2788922" cy="51206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3" name="Shape 8"/>
          <p:cNvSpPr/>
          <p:nvPr/>
        </p:nvSpPr>
        <p:spPr>
          <a:xfrm>
            <a:off x="320040" y="1874520"/>
            <a:ext cx="45721" cy="512065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4" name="Text 9"/>
          <p:cNvSpPr txBox="1"/>
          <p:nvPr/>
        </p:nvSpPr>
        <p:spPr>
          <a:xfrm>
            <a:off x="429768" y="2067051"/>
            <a:ext cx="26060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Регистрация поступлений / расходов / списаний</a:t>
            </a:r>
          </a:p>
        </p:txBody>
      </p:sp>
      <p:sp>
        <p:nvSpPr>
          <p:cNvPr id="185" name="Shape 10"/>
          <p:cNvSpPr/>
          <p:nvPr/>
        </p:nvSpPr>
        <p:spPr>
          <a:xfrm>
            <a:off x="320039" y="2404872"/>
            <a:ext cx="2788922" cy="512065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Shape 11"/>
          <p:cNvSpPr/>
          <p:nvPr/>
        </p:nvSpPr>
        <p:spPr>
          <a:xfrm>
            <a:off x="320040" y="2404872"/>
            <a:ext cx="45721" cy="512065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7" name="Text 12"/>
          <p:cNvSpPr txBox="1"/>
          <p:nvPr/>
        </p:nvSpPr>
        <p:spPr>
          <a:xfrm>
            <a:off x="429768" y="2597404"/>
            <a:ext cx="26060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Журнал всех операций</a:t>
            </a:r>
          </a:p>
        </p:txBody>
      </p:sp>
      <p:sp>
        <p:nvSpPr>
          <p:cNvPr id="188" name="Shape 13"/>
          <p:cNvSpPr/>
          <p:nvPr/>
        </p:nvSpPr>
        <p:spPr>
          <a:xfrm>
            <a:off x="320039" y="2935223"/>
            <a:ext cx="2788922" cy="51206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9" name="Shape 14"/>
          <p:cNvSpPr/>
          <p:nvPr/>
        </p:nvSpPr>
        <p:spPr>
          <a:xfrm>
            <a:off x="320040" y="2935223"/>
            <a:ext cx="45721" cy="512065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0" name="Text 15"/>
          <p:cNvSpPr txBox="1"/>
          <p:nvPr/>
        </p:nvSpPr>
        <p:spPr>
          <a:xfrm>
            <a:off x="429768" y="3127755"/>
            <a:ext cx="26060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Аналитический отчёт</a:t>
            </a:r>
          </a:p>
        </p:txBody>
      </p:sp>
      <p:sp>
        <p:nvSpPr>
          <p:cNvPr id="191" name="Shape 16"/>
          <p:cNvSpPr/>
          <p:nvPr/>
        </p:nvSpPr>
        <p:spPr>
          <a:xfrm>
            <a:off x="320039" y="3465576"/>
            <a:ext cx="2788922" cy="512065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2" name="Shape 17"/>
          <p:cNvSpPr/>
          <p:nvPr/>
        </p:nvSpPr>
        <p:spPr>
          <a:xfrm>
            <a:off x="320040" y="3465576"/>
            <a:ext cx="45721" cy="512065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3" name="Text 18"/>
          <p:cNvSpPr txBox="1"/>
          <p:nvPr/>
        </p:nvSpPr>
        <p:spPr>
          <a:xfrm>
            <a:off x="429768" y="3658108"/>
            <a:ext cx="26060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Управление пользователями</a:t>
            </a:r>
          </a:p>
        </p:txBody>
      </p:sp>
      <p:sp>
        <p:nvSpPr>
          <p:cNvPr id="194" name="Shape 19"/>
          <p:cNvSpPr/>
          <p:nvPr/>
        </p:nvSpPr>
        <p:spPr>
          <a:xfrm>
            <a:off x="320039" y="3995928"/>
            <a:ext cx="2788922" cy="51206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5" name="Shape 20"/>
          <p:cNvSpPr/>
          <p:nvPr/>
        </p:nvSpPr>
        <p:spPr>
          <a:xfrm>
            <a:off x="320040" y="3995928"/>
            <a:ext cx="45721" cy="512065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6" name="Text 21"/>
          <p:cNvSpPr txBox="1"/>
          <p:nvPr/>
        </p:nvSpPr>
        <p:spPr>
          <a:xfrm>
            <a:off x="429768" y="4188459"/>
            <a:ext cx="26060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Управление заказами клиентов</a:t>
            </a:r>
          </a:p>
        </p:txBody>
      </p:sp>
      <p:sp>
        <p:nvSpPr>
          <p:cNvPr id="197" name="Shape 22"/>
          <p:cNvSpPr/>
          <p:nvPr/>
        </p:nvSpPr>
        <p:spPr>
          <a:xfrm>
            <a:off x="3291840" y="822960"/>
            <a:ext cx="2788921" cy="5029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8" name="Text 23"/>
          <p:cNvSpPr txBox="1"/>
          <p:nvPr/>
        </p:nvSpPr>
        <p:spPr>
          <a:xfrm>
            <a:off x="3337559" y="960119"/>
            <a:ext cx="26974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⚙️  </a:t>
            </a:r>
            <a:r>
              <a:t>ОПЕРАТОР</a:t>
            </a:r>
          </a:p>
        </p:txBody>
      </p:sp>
      <p:sp>
        <p:nvSpPr>
          <p:cNvPr id="199" name="Shape 24"/>
          <p:cNvSpPr/>
          <p:nvPr/>
        </p:nvSpPr>
        <p:spPr>
          <a:xfrm>
            <a:off x="3291840" y="1344167"/>
            <a:ext cx="2788921" cy="512065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0" name="Shape 25"/>
          <p:cNvSpPr/>
          <p:nvPr/>
        </p:nvSpPr>
        <p:spPr>
          <a:xfrm>
            <a:off x="3291840" y="1344167"/>
            <a:ext cx="45721" cy="512065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1" name="Text 26"/>
          <p:cNvSpPr txBox="1"/>
          <p:nvPr/>
        </p:nvSpPr>
        <p:spPr>
          <a:xfrm>
            <a:off x="3401567" y="1536699"/>
            <a:ext cx="2606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Просмотр и поиск товаров</a:t>
            </a:r>
          </a:p>
        </p:txBody>
      </p:sp>
      <p:sp>
        <p:nvSpPr>
          <p:cNvPr id="202" name="Shape 27"/>
          <p:cNvSpPr/>
          <p:nvPr/>
        </p:nvSpPr>
        <p:spPr>
          <a:xfrm>
            <a:off x="3291840" y="1874520"/>
            <a:ext cx="2788921" cy="51206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3" name="Shape 28"/>
          <p:cNvSpPr/>
          <p:nvPr/>
        </p:nvSpPr>
        <p:spPr>
          <a:xfrm>
            <a:off x="3291840" y="1874520"/>
            <a:ext cx="45721" cy="512065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4" name="Text 29"/>
          <p:cNvSpPr txBox="1"/>
          <p:nvPr/>
        </p:nvSpPr>
        <p:spPr>
          <a:xfrm>
            <a:off x="3401567" y="2067051"/>
            <a:ext cx="2606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Регистрация поступлений и расходов</a:t>
            </a:r>
          </a:p>
        </p:txBody>
      </p:sp>
      <p:sp>
        <p:nvSpPr>
          <p:cNvPr id="205" name="Shape 30"/>
          <p:cNvSpPr/>
          <p:nvPr/>
        </p:nvSpPr>
        <p:spPr>
          <a:xfrm>
            <a:off x="3291840" y="2404872"/>
            <a:ext cx="2788921" cy="512065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6" name="Shape 31"/>
          <p:cNvSpPr/>
          <p:nvPr/>
        </p:nvSpPr>
        <p:spPr>
          <a:xfrm>
            <a:off x="3291840" y="2404872"/>
            <a:ext cx="45721" cy="512065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7" name="Text 32"/>
          <p:cNvSpPr txBox="1"/>
          <p:nvPr/>
        </p:nvSpPr>
        <p:spPr>
          <a:xfrm>
            <a:off x="3401567" y="2597404"/>
            <a:ext cx="2606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Списание товаров</a:t>
            </a:r>
          </a:p>
        </p:txBody>
      </p:sp>
      <p:sp>
        <p:nvSpPr>
          <p:cNvPr id="208" name="Shape 33"/>
          <p:cNvSpPr/>
          <p:nvPr/>
        </p:nvSpPr>
        <p:spPr>
          <a:xfrm>
            <a:off x="3291840" y="2935223"/>
            <a:ext cx="2788921" cy="51206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9" name="Shape 34"/>
          <p:cNvSpPr/>
          <p:nvPr/>
        </p:nvSpPr>
        <p:spPr>
          <a:xfrm>
            <a:off x="3291840" y="2935223"/>
            <a:ext cx="45721" cy="512065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0" name="Text 35"/>
          <p:cNvSpPr txBox="1"/>
          <p:nvPr/>
        </p:nvSpPr>
        <p:spPr>
          <a:xfrm>
            <a:off x="3401567" y="3127755"/>
            <a:ext cx="2606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Мониторинг низких остатков</a:t>
            </a:r>
          </a:p>
        </p:txBody>
      </p:sp>
      <p:sp>
        <p:nvSpPr>
          <p:cNvPr id="211" name="Shape 36"/>
          <p:cNvSpPr/>
          <p:nvPr/>
        </p:nvSpPr>
        <p:spPr>
          <a:xfrm>
            <a:off x="3291840" y="3465576"/>
            <a:ext cx="2788921" cy="512065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2" name="Shape 37"/>
          <p:cNvSpPr/>
          <p:nvPr/>
        </p:nvSpPr>
        <p:spPr>
          <a:xfrm>
            <a:off x="3291840" y="3465576"/>
            <a:ext cx="45721" cy="512065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3" name="Text 38"/>
          <p:cNvSpPr txBox="1"/>
          <p:nvPr/>
        </p:nvSpPr>
        <p:spPr>
          <a:xfrm>
            <a:off x="3401567" y="3658108"/>
            <a:ext cx="2606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Журнал операций</a:t>
            </a:r>
          </a:p>
        </p:txBody>
      </p:sp>
      <p:sp>
        <p:nvSpPr>
          <p:cNvPr id="214" name="Shape 39"/>
          <p:cNvSpPr/>
          <p:nvPr/>
        </p:nvSpPr>
        <p:spPr>
          <a:xfrm>
            <a:off x="6263640" y="822960"/>
            <a:ext cx="2788921" cy="50292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5" name="Text 40"/>
          <p:cNvSpPr txBox="1"/>
          <p:nvPr/>
        </p:nvSpPr>
        <p:spPr>
          <a:xfrm>
            <a:off x="6309359" y="960119"/>
            <a:ext cx="26974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🛒  </a:t>
            </a:r>
            <a:r>
              <a:t>КЛИЕНТ</a:t>
            </a:r>
          </a:p>
        </p:txBody>
      </p:sp>
      <p:sp>
        <p:nvSpPr>
          <p:cNvPr id="216" name="Shape 41"/>
          <p:cNvSpPr/>
          <p:nvPr/>
        </p:nvSpPr>
        <p:spPr>
          <a:xfrm>
            <a:off x="6263640" y="1344167"/>
            <a:ext cx="2788921" cy="512065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7" name="Shape 42"/>
          <p:cNvSpPr/>
          <p:nvPr/>
        </p:nvSpPr>
        <p:spPr>
          <a:xfrm>
            <a:off x="6263640" y="1344167"/>
            <a:ext cx="45721" cy="512065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8" name="Text 43"/>
          <p:cNvSpPr txBox="1"/>
          <p:nvPr/>
        </p:nvSpPr>
        <p:spPr>
          <a:xfrm>
            <a:off x="6373367" y="1536699"/>
            <a:ext cx="2606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Просмотр каталога товаров</a:t>
            </a:r>
          </a:p>
        </p:txBody>
      </p:sp>
      <p:sp>
        <p:nvSpPr>
          <p:cNvPr id="219" name="Shape 44"/>
          <p:cNvSpPr/>
          <p:nvPr/>
        </p:nvSpPr>
        <p:spPr>
          <a:xfrm>
            <a:off x="6263640" y="1874520"/>
            <a:ext cx="2788921" cy="51206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0" name="Shape 45"/>
          <p:cNvSpPr/>
          <p:nvPr/>
        </p:nvSpPr>
        <p:spPr>
          <a:xfrm>
            <a:off x="6263640" y="1874520"/>
            <a:ext cx="45721" cy="512065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1" name="Text 46"/>
          <p:cNvSpPr txBox="1"/>
          <p:nvPr/>
        </p:nvSpPr>
        <p:spPr>
          <a:xfrm>
            <a:off x="6373367" y="2067051"/>
            <a:ext cx="2606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Добавление в корзину</a:t>
            </a:r>
          </a:p>
        </p:txBody>
      </p:sp>
      <p:sp>
        <p:nvSpPr>
          <p:cNvPr id="222" name="Shape 47"/>
          <p:cNvSpPr/>
          <p:nvPr/>
        </p:nvSpPr>
        <p:spPr>
          <a:xfrm>
            <a:off x="6263640" y="2404872"/>
            <a:ext cx="2788921" cy="512065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3" name="Shape 48"/>
          <p:cNvSpPr/>
          <p:nvPr/>
        </p:nvSpPr>
        <p:spPr>
          <a:xfrm>
            <a:off x="6263640" y="2404872"/>
            <a:ext cx="45721" cy="512065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4" name="Text 49"/>
          <p:cNvSpPr txBox="1"/>
          <p:nvPr/>
        </p:nvSpPr>
        <p:spPr>
          <a:xfrm>
            <a:off x="6373367" y="2597404"/>
            <a:ext cx="2606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Оформление заказов</a:t>
            </a:r>
          </a:p>
        </p:txBody>
      </p:sp>
      <p:sp>
        <p:nvSpPr>
          <p:cNvPr id="225" name="Shape 50"/>
          <p:cNvSpPr/>
          <p:nvPr/>
        </p:nvSpPr>
        <p:spPr>
          <a:xfrm>
            <a:off x="6263640" y="2935223"/>
            <a:ext cx="2788921" cy="51206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6" name="Shape 51"/>
          <p:cNvSpPr/>
          <p:nvPr/>
        </p:nvSpPr>
        <p:spPr>
          <a:xfrm>
            <a:off x="6263640" y="2935223"/>
            <a:ext cx="45721" cy="512065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7" name="Text 52"/>
          <p:cNvSpPr txBox="1"/>
          <p:nvPr/>
        </p:nvSpPr>
        <p:spPr>
          <a:xfrm>
            <a:off x="6373367" y="3127755"/>
            <a:ext cx="2606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Просмотр своих заказов и статусов</a:t>
            </a:r>
          </a:p>
        </p:txBody>
      </p:sp>
      <p:sp>
        <p:nvSpPr>
          <p:cNvPr id="228" name="Shape 53"/>
          <p:cNvSpPr/>
          <p:nvPr/>
        </p:nvSpPr>
        <p:spPr>
          <a:xfrm>
            <a:off x="320039" y="4663440"/>
            <a:ext cx="8641082" cy="347473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9" name="Text 54"/>
          <p:cNvSpPr txBox="1"/>
          <p:nvPr/>
        </p:nvSpPr>
        <p:spPr>
          <a:xfrm>
            <a:off x="457199" y="4741926"/>
            <a:ext cx="832104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900">
                <a:solidFill>
                  <a:srgbClr val="1A2C5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🔐  </a:t>
            </a:r>
            <a:r>
              <a:t>Авторизация: PreparedStatement (защита от SQL-инъекций)  |  Роль определяет набор видимых кнопок навигации в MainController</a:t>
            </a:r>
          </a:p>
        </p:txBody>
      </p:sp>
      <p:sp>
        <p:nvSpPr>
          <p:cNvPr id="230" name="Text 55"/>
          <p:cNvSpPr txBox="1"/>
          <p:nvPr/>
        </p:nvSpPr>
        <p:spPr>
          <a:xfrm>
            <a:off x="8595359" y="4828539"/>
            <a:ext cx="365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7A8AA0"/>
                </a:solidFill>
              </a:defRPr>
            </a:lvl1pPr>
          </a:lstStyle>
          <a:p>
            <a:pPr/>
            <a:r>
              <a:t>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0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3" name="Text 1"/>
          <p:cNvSpPr txBox="1"/>
          <p:nvPr/>
        </p:nvSpPr>
        <p:spPr>
          <a:xfrm>
            <a:off x="365760" y="309968"/>
            <a:ext cx="8595360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1A2C5B"/>
                </a:solidFill>
              </a:defRPr>
            </a:lvl1pPr>
          </a:lstStyle>
          <a:p>
            <a:pPr/>
            <a:r>
              <a:t>УЧЁТ СКЛАДСКИХ ОПЕРАЦИЙ</a:t>
            </a:r>
          </a:p>
        </p:txBody>
      </p:sp>
      <p:sp>
        <p:nvSpPr>
          <p:cNvPr id="234" name="Shape 2"/>
          <p:cNvSpPr/>
          <p:nvPr/>
        </p:nvSpPr>
        <p:spPr>
          <a:xfrm>
            <a:off x="320039" y="822960"/>
            <a:ext cx="2788922" cy="5029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5" name="Text 3"/>
          <p:cNvSpPr txBox="1"/>
          <p:nvPr/>
        </p:nvSpPr>
        <p:spPr>
          <a:xfrm>
            <a:off x="365759" y="960119"/>
            <a:ext cx="269748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📥  </a:t>
            </a:r>
            <a:r>
              <a:t>ПОСТУПЛЕНИЕ</a:t>
            </a:r>
          </a:p>
        </p:txBody>
      </p:sp>
      <p:sp>
        <p:nvSpPr>
          <p:cNvPr id="236" name="Text 4"/>
          <p:cNvSpPr txBox="1"/>
          <p:nvPr/>
        </p:nvSpPr>
        <p:spPr>
          <a:xfrm>
            <a:off x="411480" y="1404111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7A8AA0"/>
                </a:solidFill>
              </a:defRPr>
            </a:lvl1pPr>
          </a:lstStyle>
          <a:p>
            <a:pPr/>
            <a:r>
              <a:t>→ таблица: receipts</a:t>
            </a:r>
          </a:p>
        </p:txBody>
      </p:sp>
      <p:sp>
        <p:nvSpPr>
          <p:cNvPr id="237" name="Shape 5"/>
          <p:cNvSpPr/>
          <p:nvPr/>
        </p:nvSpPr>
        <p:spPr>
          <a:xfrm>
            <a:off x="320039" y="1609344"/>
            <a:ext cx="2788922" cy="53035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8" name="Text 6"/>
          <p:cNvSpPr txBox="1"/>
          <p:nvPr/>
        </p:nvSpPr>
        <p:spPr>
          <a:xfrm>
            <a:off x="411480" y="1811019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1. setAutoCommit(false)</a:t>
            </a:r>
          </a:p>
        </p:txBody>
      </p:sp>
      <p:sp>
        <p:nvSpPr>
          <p:cNvPr id="239" name="Shape 7"/>
          <p:cNvSpPr/>
          <p:nvPr/>
        </p:nvSpPr>
        <p:spPr>
          <a:xfrm>
            <a:off x="320039" y="2176272"/>
            <a:ext cx="278892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0" name="Text 8"/>
          <p:cNvSpPr txBox="1"/>
          <p:nvPr/>
        </p:nvSpPr>
        <p:spPr>
          <a:xfrm>
            <a:off x="411480" y="2377947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2. INSERT INTO receipts</a:t>
            </a:r>
          </a:p>
        </p:txBody>
      </p:sp>
      <p:sp>
        <p:nvSpPr>
          <p:cNvPr id="241" name="Shape 9"/>
          <p:cNvSpPr/>
          <p:nvPr/>
        </p:nvSpPr>
        <p:spPr>
          <a:xfrm>
            <a:off x="320039" y="2743200"/>
            <a:ext cx="2788922" cy="53035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2" name="Text 10"/>
          <p:cNvSpPr txBox="1"/>
          <p:nvPr/>
        </p:nvSpPr>
        <p:spPr>
          <a:xfrm>
            <a:off x="411480" y="2944875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3. UPDATE products SET quantity = quantity + ?</a:t>
            </a:r>
          </a:p>
        </p:txBody>
      </p:sp>
      <p:sp>
        <p:nvSpPr>
          <p:cNvPr id="243" name="Shape 11"/>
          <p:cNvSpPr/>
          <p:nvPr/>
        </p:nvSpPr>
        <p:spPr>
          <a:xfrm>
            <a:off x="320039" y="3310128"/>
            <a:ext cx="2788922" cy="53035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4" name="Text 12"/>
          <p:cNvSpPr txBox="1"/>
          <p:nvPr/>
        </p:nvSpPr>
        <p:spPr>
          <a:xfrm>
            <a:off x="411480" y="3511803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4. commit()  |  rollback() при ошибке</a:t>
            </a:r>
          </a:p>
        </p:txBody>
      </p:sp>
      <p:sp>
        <p:nvSpPr>
          <p:cNvPr id="245" name="Shape 13"/>
          <p:cNvSpPr/>
          <p:nvPr/>
        </p:nvSpPr>
        <p:spPr>
          <a:xfrm>
            <a:off x="3291840" y="822960"/>
            <a:ext cx="2788921" cy="50292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6" name="Text 14"/>
          <p:cNvSpPr txBox="1"/>
          <p:nvPr/>
        </p:nvSpPr>
        <p:spPr>
          <a:xfrm>
            <a:off x="3337559" y="960119"/>
            <a:ext cx="26974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📤  </a:t>
            </a:r>
            <a:r>
              <a:t>РАСХОД</a:t>
            </a:r>
          </a:p>
        </p:txBody>
      </p:sp>
      <p:sp>
        <p:nvSpPr>
          <p:cNvPr id="247" name="Text 15"/>
          <p:cNvSpPr txBox="1"/>
          <p:nvPr/>
        </p:nvSpPr>
        <p:spPr>
          <a:xfrm>
            <a:off x="3383279" y="1404111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7A8AA0"/>
                </a:solidFill>
              </a:defRPr>
            </a:lvl1pPr>
          </a:lstStyle>
          <a:p>
            <a:pPr/>
            <a:r>
              <a:t>→ таблица: expenses</a:t>
            </a:r>
          </a:p>
        </p:txBody>
      </p:sp>
      <p:sp>
        <p:nvSpPr>
          <p:cNvPr id="248" name="Shape 16"/>
          <p:cNvSpPr/>
          <p:nvPr/>
        </p:nvSpPr>
        <p:spPr>
          <a:xfrm>
            <a:off x="3291840" y="1609344"/>
            <a:ext cx="2788921" cy="53035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9" name="Text 17"/>
          <p:cNvSpPr txBox="1"/>
          <p:nvPr/>
        </p:nvSpPr>
        <p:spPr>
          <a:xfrm>
            <a:off x="3383279" y="1811019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1. Проверка: quantity &gt;= запрашиваемое?</a:t>
            </a:r>
          </a:p>
        </p:txBody>
      </p:sp>
      <p:sp>
        <p:nvSpPr>
          <p:cNvPr id="250" name="Shape 18"/>
          <p:cNvSpPr/>
          <p:nvPr/>
        </p:nvSpPr>
        <p:spPr>
          <a:xfrm>
            <a:off x="3291840" y="2176272"/>
            <a:ext cx="2788921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1" name="Text 19"/>
          <p:cNvSpPr txBox="1"/>
          <p:nvPr/>
        </p:nvSpPr>
        <p:spPr>
          <a:xfrm>
            <a:off x="3383279" y="2377947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2. setAutoCommit(false)</a:t>
            </a:r>
          </a:p>
        </p:txBody>
      </p:sp>
      <p:sp>
        <p:nvSpPr>
          <p:cNvPr id="252" name="Shape 20"/>
          <p:cNvSpPr/>
          <p:nvPr/>
        </p:nvSpPr>
        <p:spPr>
          <a:xfrm>
            <a:off x="3291840" y="2743200"/>
            <a:ext cx="2788921" cy="53035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3" name="Text 21"/>
          <p:cNvSpPr txBox="1"/>
          <p:nvPr/>
        </p:nvSpPr>
        <p:spPr>
          <a:xfrm>
            <a:off x="3383279" y="2944875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3. INSERT INTO expenses</a:t>
            </a:r>
          </a:p>
        </p:txBody>
      </p:sp>
      <p:sp>
        <p:nvSpPr>
          <p:cNvPr id="254" name="Shape 22"/>
          <p:cNvSpPr/>
          <p:nvPr/>
        </p:nvSpPr>
        <p:spPr>
          <a:xfrm>
            <a:off x="3291840" y="3310128"/>
            <a:ext cx="2788921" cy="53035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5" name="Text 23"/>
          <p:cNvSpPr txBox="1"/>
          <p:nvPr/>
        </p:nvSpPr>
        <p:spPr>
          <a:xfrm>
            <a:off x="3383279" y="3511803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4. UPDATE products SET quantity = quantity - ?</a:t>
            </a:r>
          </a:p>
        </p:txBody>
      </p:sp>
      <p:sp>
        <p:nvSpPr>
          <p:cNvPr id="256" name="Shape 24"/>
          <p:cNvSpPr/>
          <p:nvPr/>
        </p:nvSpPr>
        <p:spPr>
          <a:xfrm>
            <a:off x="3291840" y="3877055"/>
            <a:ext cx="2788921" cy="530353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7" name="Text 25"/>
          <p:cNvSpPr txBox="1"/>
          <p:nvPr/>
        </p:nvSpPr>
        <p:spPr>
          <a:xfrm>
            <a:off x="3383279" y="4078731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5. commit()  |  rollback() при ошибке</a:t>
            </a:r>
          </a:p>
        </p:txBody>
      </p:sp>
      <p:sp>
        <p:nvSpPr>
          <p:cNvPr id="258" name="Shape 26"/>
          <p:cNvSpPr/>
          <p:nvPr/>
        </p:nvSpPr>
        <p:spPr>
          <a:xfrm>
            <a:off x="6263640" y="822960"/>
            <a:ext cx="2788921" cy="50292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9" name="Text 27"/>
          <p:cNvSpPr txBox="1"/>
          <p:nvPr/>
        </p:nvSpPr>
        <p:spPr>
          <a:xfrm>
            <a:off x="6309359" y="960119"/>
            <a:ext cx="26974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🗑️  </a:t>
            </a:r>
            <a:r>
              <a:t>СПИСАНИЕ</a:t>
            </a:r>
          </a:p>
        </p:txBody>
      </p:sp>
      <p:sp>
        <p:nvSpPr>
          <p:cNvPr id="260" name="Text 28"/>
          <p:cNvSpPr txBox="1"/>
          <p:nvPr/>
        </p:nvSpPr>
        <p:spPr>
          <a:xfrm>
            <a:off x="6355079" y="1404111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7A8AA0"/>
                </a:solidFill>
              </a:defRPr>
            </a:lvl1pPr>
          </a:lstStyle>
          <a:p>
            <a:pPr/>
            <a:r>
              <a:t>→ таблица: expenses</a:t>
            </a:r>
          </a:p>
        </p:txBody>
      </p:sp>
      <p:sp>
        <p:nvSpPr>
          <p:cNvPr id="261" name="Shape 29"/>
          <p:cNvSpPr/>
          <p:nvPr/>
        </p:nvSpPr>
        <p:spPr>
          <a:xfrm>
            <a:off x="6263640" y="1609344"/>
            <a:ext cx="2788921" cy="53035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2" name="Text 30"/>
          <p:cNvSpPr txBox="1"/>
          <p:nvPr/>
        </p:nvSpPr>
        <p:spPr>
          <a:xfrm>
            <a:off x="6355079" y="1811019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1. Та же логика что и расход</a:t>
            </a:r>
          </a:p>
        </p:txBody>
      </p:sp>
      <p:sp>
        <p:nvSpPr>
          <p:cNvPr id="263" name="Shape 31"/>
          <p:cNvSpPr/>
          <p:nvPr/>
        </p:nvSpPr>
        <p:spPr>
          <a:xfrm>
            <a:off x="6263640" y="2176272"/>
            <a:ext cx="2788921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4" name="Text 32"/>
          <p:cNvSpPr txBox="1"/>
          <p:nvPr/>
        </p:nvSpPr>
        <p:spPr>
          <a:xfrm>
            <a:off x="6355079" y="2377947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2. reason = 'Списание: причина'</a:t>
            </a:r>
          </a:p>
        </p:txBody>
      </p:sp>
      <p:sp>
        <p:nvSpPr>
          <p:cNvPr id="265" name="Shape 33"/>
          <p:cNvSpPr/>
          <p:nvPr/>
        </p:nvSpPr>
        <p:spPr>
          <a:xfrm>
            <a:off x="6263640" y="2743200"/>
            <a:ext cx="2788921" cy="53035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6" name="Text 34"/>
          <p:cNvSpPr txBox="1"/>
          <p:nvPr/>
        </p:nvSpPr>
        <p:spPr>
          <a:xfrm>
            <a:off x="6355079" y="2944875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3. Визуально отделяется в журнале</a:t>
            </a:r>
          </a:p>
        </p:txBody>
      </p:sp>
      <p:sp>
        <p:nvSpPr>
          <p:cNvPr id="267" name="Shape 35"/>
          <p:cNvSpPr/>
          <p:nvPr/>
        </p:nvSpPr>
        <p:spPr>
          <a:xfrm>
            <a:off x="6263640" y="3310128"/>
            <a:ext cx="2788921" cy="53035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8" name="Text 36"/>
          <p:cNvSpPr txBox="1"/>
          <p:nvPr/>
        </p:nvSpPr>
        <p:spPr>
          <a:xfrm>
            <a:off x="6355079" y="3511803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4. setAutoCommit / commit / rollback</a:t>
            </a:r>
          </a:p>
        </p:txBody>
      </p:sp>
      <p:sp>
        <p:nvSpPr>
          <p:cNvPr id="269" name="Shape 37"/>
          <p:cNvSpPr/>
          <p:nvPr/>
        </p:nvSpPr>
        <p:spPr>
          <a:xfrm>
            <a:off x="320039" y="4663440"/>
            <a:ext cx="8641082" cy="347473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0" name="Text 38"/>
          <p:cNvSpPr txBox="1"/>
          <p:nvPr/>
        </p:nvSpPr>
        <p:spPr>
          <a:xfrm>
            <a:off x="457199" y="4741926"/>
            <a:ext cx="832104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⚡  </a:t>
            </a:r>
            <a:r>
              <a:t>Транзакционный подход гарантирует атомарность: оба действия (запись операции + обновление остатка) выполняются вместе или не выполняются вовсе</a:t>
            </a:r>
          </a:p>
        </p:txBody>
      </p:sp>
      <p:sp>
        <p:nvSpPr>
          <p:cNvPr id="271" name="Text 39"/>
          <p:cNvSpPr txBox="1"/>
          <p:nvPr/>
        </p:nvSpPr>
        <p:spPr>
          <a:xfrm>
            <a:off x="8595359" y="4828539"/>
            <a:ext cx="365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7A8AA0"/>
                </a:solidFill>
              </a:defRPr>
            </a:lvl1pPr>
          </a:lstStyle>
          <a:p>
            <a:pPr/>
            <a:r>
              <a:t>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hape 0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4" name="Text 1"/>
          <p:cNvSpPr txBox="1"/>
          <p:nvPr/>
        </p:nvSpPr>
        <p:spPr>
          <a:xfrm>
            <a:off x="365760" y="309968"/>
            <a:ext cx="8595360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1A2C5B"/>
                </a:solidFill>
              </a:defRPr>
            </a:lvl1pPr>
          </a:lstStyle>
          <a:p>
            <a:pPr/>
            <a:r>
              <a:t>АНАЛИТИКА И СИСТЕМА ЗАКАЗОВ</a:t>
            </a:r>
          </a:p>
        </p:txBody>
      </p:sp>
      <p:sp>
        <p:nvSpPr>
          <p:cNvPr id="275" name="Shape 2"/>
          <p:cNvSpPr/>
          <p:nvPr/>
        </p:nvSpPr>
        <p:spPr>
          <a:xfrm>
            <a:off x="320039" y="804672"/>
            <a:ext cx="4160522" cy="347473"/>
          </a:xfrm>
          <a:prstGeom prst="rect">
            <a:avLst/>
          </a:prstGeom>
          <a:solidFill>
            <a:srgbClr val="2E5BBA"/>
          </a:solidFill>
          <a:ln w="12700">
            <a:solidFill>
              <a:srgbClr val="2E5BB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6" name="Text 3"/>
          <p:cNvSpPr txBox="1"/>
          <p:nvPr/>
        </p:nvSpPr>
        <p:spPr>
          <a:xfrm>
            <a:off x="365760" y="813308"/>
            <a:ext cx="406908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📊  </a:t>
            </a:r>
            <a:r>
              <a:t>АНАЛИТИЧЕСКИЙ ОТЧЁТ</a:t>
            </a:r>
          </a:p>
        </p:txBody>
      </p:sp>
      <p:sp>
        <p:nvSpPr>
          <p:cNvPr id="277" name="Shape 4"/>
          <p:cNvSpPr/>
          <p:nvPr/>
        </p:nvSpPr>
        <p:spPr>
          <a:xfrm>
            <a:off x="320039" y="1188719"/>
            <a:ext cx="4160522" cy="530353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8" name="Text 5"/>
          <p:cNvSpPr txBox="1"/>
          <p:nvPr/>
        </p:nvSpPr>
        <p:spPr>
          <a:xfrm>
            <a:off x="411480" y="1385360"/>
            <a:ext cx="2011679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1A2C5B"/>
                </a:solidFill>
              </a:defRPr>
            </a:lvl1pPr>
          </a:lstStyle>
          <a:p>
            <a:pPr/>
            <a:r>
              <a:t>Кол-во позиций</a:t>
            </a:r>
          </a:p>
        </p:txBody>
      </p:sp>
      <p:sp>
        <p:nvSpPr>
          <p:cNvPr id="279" name="Text 6"/>
          <p:cNvSpPr txBox="1"/>
          <p:nvPr/>
        </p:nvSpPr>
        <p:spPr>
          <a:xfrm>
            <a:off x="2468879" y="1390395"/>
            <a:ext cx="19202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900">
                <a:solidFill>
                  <a:srgbClr val="2E5BBA"/>
                </a:solidFill>
              </a:defRPr>
            </a:lvl1pPr>
          </a:lstStyle>
          <a:p>
            <a:pPr/>
            <a:r>
              <a:t>products.size()</a:t>
            </a:r>
          </a:p>
        </p:txBody>
      </p:sp>
      <p:sp>
        <p:nvSpPr>
          <p:cNvPr id="280" name="Shape 7"/>
          <p:cNvSpPr/>
          <p:nvPr/>
        </p:nvSpPr>
        <p:spPr>
          <a:xfrm>
            <a:off x="320039" y="1755648"/>
            <a:ext cx="4160522" cy="53035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1" name="Text 8"/>
          <p:cNvSpPr txBox="1"/>
          <p:nvPr/>
        </p:nvSpPr>
        <p:spPr>
          <a:xfrm>
            <a:off x="411480" y="1952288"/>
            <a:ext cx="2011679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1A2C5B"/>
                </a:solidFill>
              </a:defRPr>
            </a:lvl1pPr>
          </a:lstStyle>
          <a:p>
            <a:pPr/>
            <a:r>
              <a:t>Стоимость запасов</a:t>
            </a:r>
          </a:p>
        </p:txBody>
      </p:sp>
      <p:sp>
        <p:nvSpPr>
          <p:cNvPr id="282" name="Text 9"/>
          <p:cNvSpPr txBox="1"/>
          <p:nvPr/>
        </p:nvSpPr>
        <p:spPr>
          <a:xfrm>
            <a:off x="2468879" y="1957323"/>
            <a:ext cx="19202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900">
                <a:solidFill>
                  <a:srgbClr val="2E5BBA"/>
                </a:solidFill>
              </a:defRPr>
            </a:lvl1pPr>
          </a:lstStyle>
          <a:p>
            <a:pPr/>
            <a:r>
              <a:t>Σ price × quantity</a:t>
            </a:r>
          </a:p>
        </p:txBody>
      </p:sp>
      <p:sp>
        <p:nvSpPr>
          <p:cNvPr id="283" name="Shape 10"/>
          <p:cNvSpPr/>
          <p:nvPr/>
        </p:nvSpPr>
        <p:spPr>
          <a:xfrm>
            <a:off x="320039" y="2322576"/>
            <a:ext cx="4160522" cy="530353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4" name="Text 11"/>
          <p:cNvSpPr txBox="1"/>
          <p:nvPr/>
        </p:nvSpPr>
        <p:spPr>
          <a:xfrm>
            <a:off x="411480" y="2519216"/>
            <a:ext cx="2011679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1A2C5B"/>
                </a:solidFill>
              </a:defRPr>
            </a:lvl1pPr>
          </a:lstStyle>
          <a:p>
            <a:pPr/>
            <a:r>
              <a:t>Низкий остаток</a:t>
            </a:r>
          </a:p>
        </p:txBody>
      </p:sp>
      <p:sp>
        <p:nvSpPr>
          <p:cNvPr id="285" name="Text 12"/>
          <p:cNvSpPr txBox="1"/>
          <p:nvPr/>
        </p:nvSpPr>
        <p:spPr>
          <a:xfrm>
            <a:off x="2468879" y="2524251"/>
            <a:ext cx="19202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900">
                <a:solidFill>
                  <a:srgbClr val="2E5BBA"/>
                </a:solidFill>
              </a:defRPr>
            </a:lvl1pPr>
          </a:lstStyle>
          <a:p>
            <a:pPr/>
            <a:r>
              <a:t>quantity ≤ min_quantity</a:t>
            </a:r>
          </a:p>
        </p:txBody>
      </p:sp>
      <p:sp>
        <p:nvSpPr>
          <p:cNvPr id="286" name="Shape 13"/>
          <p:cNvSpPr/>
          <p:nvPr/>
        </p:nvSpPr>
        <p:spPr>
          <a:xfrm>
            <a:off x="320039" y="2889504"/>
            <a:ext cx="4160522" cy="53035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7" name="Text 14"/>
          <p:cNvSpPr txBox="1"/>
          <p:nvPr/>
        </p:nvSpPr>
        <p:spPr>
          <a:xfrm>
            <a:off x="411480" y="3086144"/>
            <a:ext cx="2011679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1A2C5B"/>
                </a:solidFill>
              </a:defRPr>
            </a:lvl1pPr>
          </a:lstStyle>
          <a:p>
            <a:pPr/>
            <a:r>
              <a:t>Поступлений всего</a:t>
            </a:r>
          </a:p>
        </p:txBody>
      </p:sp>
      <p:sp>
        <p:nvSpPr>
          <p:cNvPr id="288" name="Text 15"/>
          <p:cNvSpPr txBox="1"/>
          <p:nvPr/>
        </p:nvSpPr>
        <p:spPr>
          <a:xfrm>
            <a:off x="2468879" y="3091179"/>
            <a:ext cx="19202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900">
                <a:solidFill>
                  <a:srgbClr val="2E5BBA"/>
                </a:solidFill>
              </a:defRPr>
            </a:lvl1pPr>
          </a:lstStyle>
          <a:p>
            <a:pPr/>
            <a:r>
              <a:t>getAllReceipts().size()</a:t>
            </a:r>
          </a:p>
        </p:txBody>
      </p:sp>
      <p:sp>
        <p:nvSpPr>
          <p:cNvPr id="289" name="Shape 16"/>
          <p:cNvSpPr/>
          <p:nvPr/>
        </p:nvSpPr>
        <p:spPr>
          <a:xfrm>
            <a:off x="320039" y="3456432"/>
            <a:ext cx="4160522" cy="274321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0" name="Text 17"/>
          <p:cNvSpPr txBox="1"/>
          <p:nvPr/>
        </p:nvSpPr>
        <p:spPr>
          <a:xfrm>
            <a:off x="365760" y="3530091"/>
            <a:ext cx="40690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7A8AA0"/>
                </a:solidFill>
              </a:defRPr>
            </a:lvl1pPr>
          </a:lstStyle>
          <a:p>
            <a:pPr/>
            <a:r>
              <a:t>+ Таблица по категориям: LinkedHashMap&lt;категория, [позиций, кол-во, стоимость]&gt;</a:t>
            </a:r>
          </a:p>
        </p:txBody>
      </p:sp>
      <p:sp>
        <p:nvSpPr>
          <p:cNvPr id="291" name="Shape 18"/>
          <p:cNvSpPr/>
          <p:nvPr/>
        </p:nvSpPr>
        <p:spPr>
          <a:xfrm>
            <a:off x="4709159" y="804672"/>
            <a:ext cx="4206241" cy="347473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2" name="Text 19"/>
          <p:cNvSpPr txBox="1"/>
          <p:nvPr/>
        </p:nvSpPr>
        <p:spPr>
          <a:xfrm>
            <a:off x="4754879" y="813308"/>
            <a:ext cx="411480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🛒  </a:t>
            </a:r>
            <a:r>
              <a:t>СИСТЕМА ЗАКАЗОВ</a:t>
            </a:r>
          </a:p>
        </p:txBody>
      </p:sp>
      <p:sp>
        <p:nvSpPr>
          <p:cNvPr id="293" name="Shape 20"/>
          <p:cNvSpPr/>
          <p:nvPr/>
        </p:nvSpPr>
        <p:spPr>
          <a:xfrm>
            <a:off x="4709159" y="1188719"/>
            <a:ext cx="4206241" cy="530353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4" name="Shape 21"/>
          <p:cNvSpPr/>
          <p:nvPr/>
        </p:nvSpPr>
        <p:spPr>
          <a:xfrm>
            <a:off x="4709159" y="1188719"/>
            <a:ext cx="54865" cy="530353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5" name="Text 22"/>
          <p:cNvSpPr txBox="1"/>
          <p:nvPr/>
        </p:nvSpPr>
        <p:spPr>
          <a:xfrm>
            <a:off x="4800600" y="1276096"/>
            <a:ext cx="10058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7D3C98"/>
                </a:solidFill>
              </a:defRPr>
            </a:lvl1pPr>
          </a:lstStyle>
          <a:p>
            <a:pPr/>
            <a:r>
              <a:t>Клиент:</a:t>
            </a:r>
          </a:p>
        </p:txBody>
      </p:sp>
      <p:sp>
        <p:nvSpPr>
          <p:cNvPr id="296" name="Text 23"/>
          <p:cNvSpPr txBox="1"/>
          <p:nvPr/>
        </p:nvSpPr>
        <p:spPr>
          <a:xfrm>
            <a:off x="4800600" y="1509268"/>
            <a:ext cx="4023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Просматривает каталог, добавляет в корзину (CartPanelController)</a:t>
            </a:r>
          </a:p>
        </p:txBody>
      </p:sp>
      <p:sp>
        <p:nvSpPr>
          <p:cNvPr id="297" name="Shape 24"/>
          <p:cNvSpPr/>
          <p:nvPr/>
        </p:nvSpPr>
        <p:spPr>
          <a:xfrm>
            <a:off x="4709159" y="1755648"/>
            <a:ext cx="4206241" cy="53035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8" name="Shape 25"/>
          <p:cNvSpPr/>
          <p:nvPr/>
        </p:nvSpPr>
        <p:spPr>
          <a:xfrm>
            <a:off x="4709159" y="1755648"/>
            <a:ext cx="54865" cy="530353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9" name="Text 26"/>
          <p:cNvSpPr txBox="1"/>
          <p:nvPr/>
        </p:nvSpPr>
        <p:spPr>
          <a:xfrm>
            <a:off x="4800600" y="1843023"/>
            <a:ext cx="10058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7D3C98"/>
                </a:solidFill>
              </a:defRPr>
            </a:lvl1pPr>
          </a:lstStyle>
          <a:p>
            <a:pPr/>
            <a:r>
              <a:t>Оформление:</a:t>
            </a:r>
          </a:p>
        </p:txBody>
      </p:sp>
      <p:sp>
        <p:nvSpPr>
          <p:cNvPr id="300" name="Text 27"/>
          <p:cNvSpPr txBox="1"/>
          <p:nvPr/>
        </p:nvSpPr>
        <p:spPr>
          <a:xfrm>
            <a:off x="4800600" y="2076195"/>
            <a:ext cx="4023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createOrder() → INSERT orders → getGeneratedKeys()</a:t>
            </a:r>
          </a:p>
        </p:txBody>
      </p:sp>
      <p:sp>
        <p:nvSpPr>
          <p:cNvPr id="301" name="Shape 28"/>
          <p:cNvSpPr/>
          <p:nvPr/>
        </p:nvSpPr>
        <p:spPr>
          <a:xfrm>
            <a:off x="4709159" y="2322576"/>
            <a:ext cx="4206241" cy="530353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2" name="Shape 29"/>
          <p:cNvSpPr/>
          <p:nvPr/>
        </p:nvSpPr>
        <p:spPr>
          <a:xfrm>
            <a:off x="4709159" y="2322576"/>
            <a:ext cx="54865" cy="530353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3" name="Text 30"/>
          <p:cNvSpPr txBox="1"/>
          <p:nvPr/>
        </p:nvSpPr>
        <p:spPr>
          <a:xfrm>
            <a:off x="4800600" y="2409951"/>
            <a:ext cx="10058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7D3C98"/>
                </a:solidFill>
              </a:defRPr>
            </a:lvl1pPr>
          </a:lstStyle>
          <a:p>
            <a:pPr/>
            <a:r>
              <a:t>Позиции:</a:t>
            </a:r>
          </a:p>
        </p:txBody>
      </p:sp>
      <p:sp>
        <p:nvSpPr>
          <p:cNvPr id="304" name="Text 31"/>
          <p:cNvSpPr txBox="1"/>
          <p:nvPr/>
        </p:nvSpPr>
        <p:spPr>
          <a:xfrm>
            <a:off x="4800600" y="2643123"/>
            <a:ext cx="4023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addOrderItem() → INSERT order_items + UPDATE quantity (транзакция)</a:t>
            </a:r>
          </a:p>
        </p:txBody>
      </p:sp>
      <p:sp>
        <p:nvSpPr>
          <p:cNvPr id="305" name="Shape 32"/>
          <p:cNvSpPr/>
          <p:nvPr/>
        </p:nvSpPr>
        <p:spPr>
          <a:xfrm>
            <a:off x="4709159" y="2889504"/>
            <a:ext cx="4206241" cy="53035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6" name="Shape 33"/>
          <p:cNvSpPr/>
          <p:nvPr/>
        </p:nvSpPr>
        <p:spPr>
          <a:xfrm>
            <a:off x="4709159" y="2889504"/>
            <a:ext cx="54865" cy="530353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7" name="Text 34"/>
          <p:cNvSpPr txBox="1"/>
          <p:nvPr/>
        </p:nvSpPr>
        <p:spPr>
          <a:xfrm>
            <a:off x="4800600" y="2976879"/>
            <a:ext cx="10058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7D3C98"/>
                </a:solidFill>
              </a:defRPr>
            </a:lvl1pPr>
          </a:lstStyle>
          <a:p>
            <a:pPr/>
            <a:r>
              <a:t>Администратор:</a:t>
            </a:r>
          </a:p>
        </p:txBody>
      </p:sp>
      <p:sp>
        <p:nvSpPr>
          <p:cNvPr id="308" name="Text 35"/>
          <p:cNvSpPr txBox="1"/>
          <p:nvPr/>
        </p:nvSpPr>
        <p:spPr>
          <a:xfrm>
            <a:off x="4800600" y="3210051"/>
            <a:ext cx="4023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getAllOrders() → просмотр всех заказов с именами пользователей</a:t>
            </a:r>
          </a:p>
        </p:txBody>
      </p:sp>
      <p:sp>
        <p:nvSpPr>
          <p:cNvPr id="309" name="Shape 36"/>
          <p:cNvSpPr/>
          <p:nvPr/>
        </p:nvSpPr>
        <p:spPr>
          <a:xfrm>
            <a:off x="4709159" y="3456432"/>
            <a:ext cx="4206241" cy="530353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0" name="Shape 37"/>
          <p:cNvSpPr/>
          <p:nvPr/>
        </p:nvSpPr>
        <p:spPr>
          <a:xfrm>
            <a:off x="4709159" y="3456432"/>
            <a:ext cx="54865" cy="530353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1" name="Text 38"/>
          <p:cNvSpPr txBox="1"/>
          <p:nvPr/>
        </p:nvSpPr>
        <p:spPr>
          <a:xfrm>
            <a:off x="4800600" y="3543808"/>
            <a:ext cx="10058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7D3C98"/>
                </a:solidFill>
              </a:defRPr>
            </a:lvl1pPr>
          </a:lstStyle>
          <a:p>
            <a:pPr/>
            <a:r>
              <a:t>Статус:</a:t>
            </a:r>
          </a:p>
        </p:txBody>
      </p:sp>
      <p:sp>
        <p:nvSpPr>
          <p:cNvPr id="312" name="Text 39"/>
          <p:cNvSpPr txBox="1"/>
          <p:nvPr/>
        </p:nvSpPr>
        <p:spPr>
          <a:xfrm>
            <a:off x="4800600" y="3776979"/>
            <a:ext cx="4023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updateOrderStatus() → UPDATE orders SET status = ?</a:t>
            </a:r>
          </a:p>
        </p:txBody>
      </p:sp>
      <p:sp>
        <p:nvSpPr>
          <p:cNvPr id="313" name="Text 40"/>
          <p:cNvSpPr txBox="1"/>
          <p:nvPr/>
        </p:nvSpPr>
        <p:spPr>
          <a:xfrm>
            <a:off x="8595359" y="4828539"/>
            <a:ext cx="365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7A8AA0"/>
                </a:solidFill>
              </a:defRPr>
            </a:lvl1pPr>
          </a:lstStyle>
          <a:p>
            <a:pPr/>
            <a:r>
              <a:t>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hape 0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6" name="Text 1"/>
          <p:cNvSpPr txBox="1"/>
          <p:nvPr/>
        </p:nvSpPr>
        <p:spPr>
          <a:xfrm>
            <a:off x="365760" y="309968"/>
            <a:ext cx="8595360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1A2C5B"/>
                </a:solidFill>
              </a:defRPr>
            </a:lvl1pPr>
          </a:lstStyle>
          <a:p>
            <a:pPr/>
            <a:r>
              <a:t>ПОЛЬЗОВАТЕЛЬСКИЙ ИНТЕРФЕЙС</a:t>
            </a:r>
          </a:p>
        </p:txBody>
      </p:sp>
      <p:sp>
        <p:nvSpPr>
          <p:cNvPr id="317" name="Text 2"/>
          <p:cNvSpPr txBox="1"/>
          <p:nvPr/>
        </p:nvSpPr>
        <p:spPr>
          <a:xfrm>
            <a:off x="365760" y="717848"/>
            <a:ext cx="850392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7A8AA0"/>
                </a:solidFill>
              </a:defRPr>
            </a:lvl1pPr>
          </a:lstStyle>
          <a:p>
            <a:pPr/>
            <a:r>
              <a:t>JavaFX 21 + FXML + CSS  |  Структура: BorderPane (боковая навигация + центральная область)</a:t>
            </a:r>
          </a:p>
        </p:txBody>
      </p:sp>
      <p:sp>
        <p:nvSpPr>
          <p:cNvPr id="318" name="Shape 3"/>
          <p:cNvSpPr/>
          <p:nvPr/>
        </p:nvSpPr>
        <p:spPr>
          <a:xfrm>
            <a:off x="320039" y="960119"/>
            <a:ext cx="8641082" cy="397764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</a:ln>
          <a:effectLst>
            <a:outerShdw sx="100000" sy="100000" kx="0" ky="0" algn="b" rotWithShape="0" blurRad="1016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9" name="Shape 4"/>
          <p:cNvSpPr/>
          <p:nvPr/>
        </p:nvSpPr>
        <p:spPr>
          <a:xfrm>
            <a:off x="320039" y="960119"/>
            <a:ext cx="8641082" cy="347473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0" name="Text 5"/>
          <p:cNvSpPr txBox="1"/>
          <p:nvPr/>
        </p:nvSpPr>
        <p:spPr>
          <a:xfrm>
            <a:off x="457200" y="1025905"/>
            <a:ext cx="640080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🖥  </a:t>
            </a:r>
            <a:r>
              <a:t>Информационная система складского учёта</a:t>
            </a:r>
          </a:p>
        </p:txBody>
      </p:sp>
      <p:sp>
        <p:nvSpPr>
          <p:cNvPr id="321" name="Text 6"/>
          <p:cNvSpPr txBox="1"/>
          <p:nvPr/>
        </p:nvSpPr>
        <p:spPr>
          <a:xfrm>
            <a:off x="8046719" y="1056384"/>
            <a:ext cx="822961" cy="1549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━  □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✕</a:t>
            </a:r>
          </a:p>
        </p:txBody>
      </p:sp>
      <p:sp>
        <p:nvSpPr>
          <p:cNvPr id="322" name="Shape 7"/>
          <p:cNvSpPr/>
          <p:nvPr/>
        </p:nvSpPr>
        <p:spPr>
          <a:xfrm>
            <a:off x="320040" y="1307591"/>
            <a:ext cx="1554481" cy="363016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3" name="Shape 8"/>
          <p:cNvSpPr/>
          <p:nvPr/>
        </p:nvSpPr>
        <p:spPr>
          <a:xfrm>
            <a:off x="320040" y="1307591"/>
            <a:ext cx="1554481" cy="34747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4" name="Text 9"/>
          <p:cNvSpPr txBox="1"/>
          <p:nvPr/>
        </p:nvSpPr>
        <p:spPr>
          <a:xfrm>
            <a:off x="384047" y="1398777"/>
            <a:ext cx="141732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800">
                <a:solidFill>
                  <a:srgbClr val="4FC3F7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👤 </a:t>
            </a:r>
            <a:r>
              <a:t>Омуршаев С.А</a:t>
            </a:r>
          </a:p>
        </p:txBody>
      </p:sp>
      <p:sp>
        <p:nvSpPr>
          <p:cNvPr id="325" name="Shape 10"/>
          <p:cNvSpPr/>
          <p:nvPr/>
        </p:nvSpPr>
        <p:spPr>
          <a:xfrm>
            <a:off x="320040" y="1655064"/>
            <a:ext cx="1554481" cy="347473"/>
          </a:xfrm>
          <a:prstGeom prst="rect">
            <a:avLst/>
          </a:prstGeom>
          <a:solidFill>
            <a:srgbClr val="2E5BBA"/>
          </a:solidFill>
          <a:ln w="12700">
            <a:solidFill>
              <a:srgbClr val="2E5BB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6" name="Text 11"/>
          <p:cNvSpPr txBox="1"/>
          <p:nvPr/>
        </p:nvSpPr>
        <p:spPr>
          <a:xfrm>
            <a:off x="384047" y="1746249"/>
            <a:ext cx="141732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8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📦 </a:t>
            </a:r>
            <a:r>
              <a:t>Товары</a:t>
            </a:r>
          </a:p>
        </p:txBody>
      </p:sp>
      <p:sp>
        <p:nvSpPr>
          <p:cNvPr id="327" name="Shape 12"/>
          <p:cNvSpPr/>
          <p:nvPr/>
        </p:nvSpPr>
        <p:spPr>
          <a:xfrm>
            <a:off x="320040" y="2002535"/>
            <a:ext cx="1554481" cy="34747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8" name="Text 13"/>
          <p:cNvSpPr txBox="1"/>
          <p:nvPr/>
        </p:nvSpPr>
        <p:spPr>
          <a:xfrm>
            <a:off x="384047" y="2093722"/>
            <a:ext cx="141732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📥 </a:t>
            </a:r>
            <a:r>
              <a:t>Поступления</a:t>
            </a:r>
          </a:p>
        </p:txBody>
      </p:sp>
      <p:sp>
        <p:nvSpPr>
          <p:cNvPr id="329" name="Shape 14"/>
          <p:cNvSpPr/>
          <p:nvPr/>
        </p:nvSpPr>
        <p:spPr>
          <a:xfrm>
            <a:off x="320040" y="2350007"/>
            <a:ext cx="1554481" cy="34747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0" name="Text 15"/>
          <p:cNvSpPr txBox="1"/>
          <p:nvPr/>
        </p:nvSpPr>
        <p:spPr>
          <a:xfrm>
            <a:off x="384047" y="2441194"/>
            <a:ext cx="141732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📤 </a:t>
            </a:r>
            <a:r>
              <a:t>Расходы</a:t>
            </a:r>
          </a:p>
        </p:txBody>
      </p:sp>
      <p:sp>
        <p:nvSpPr>
          <p:cNvPr id="331" name="Shape 16"/>
          <p:cNvSpPr/>
          <p:nvPr/>
        </p:nvSpPr>
        <p:spPr>
          <a:xfrm>
            <a:off x="320040" y="2697479"/>
            <a:ext cx="1554481" cy="34747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2" name="Text 17"/>
          <p:cNvSpPr txBox="1"/>
          <p:nvPr/>
        </p:nvSpPr>
        <p:spPr>
          <a:xfrm>
            <a:off x="384047" y="2788666"/>
            <a:ext cx="141732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🗑️ </a:t>
            </a:r>
            <a:r>
              <a:t>Списание</a:t>
            </a:r>
          </a:p>
        </p:txBody>
      </p:sp>
      <p:sp>
        <p:nvSpPr>
          <p:cNvPr id="333" name="Shape 18"/>
          <p:cNvSpPr/>
          <p:nvPr/>
        </p:nvSpPr>
        <p:spPr>
          <a:xfrm>
            <a:off x="320040" y="3044951"/>
            <a:ext cx="1554481" cy="34747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4" name="Text 19"/>
          <p:cNvSpPr txBox="1"/>
          <p:nvPr/>
        </p:nvSpPr>
        <p:spPr>
          <a:xfrm>
            <a:off x="384047" y="3136138"/>
            <a:ext cx="141732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⚠️ </a:t>
            </a:r>
            <a:r>
              <a:t>Остатки</a:t>
            </a:r>
          </a:p>
        </p:txBody>
      </p:sp>
      <p:sp>
        <p:nvSpPr>
          <p:cNvPr id="335" name="Shape 20"/>
          <p:cNvSpPr/>
          <p:nvPr/>
        </p:nvSpPr>
        <p:spPr>
          <a:xfrm>
            <a:off x="320040" y="3392423"/>
            <a:ext cx="1554481" cy="34747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6" name="Text 21"/>
          <p:cNvSpPr txBox="1"/>
          <p:nvPr/>
        </p:nvSpPr>
        <p:spPr>
          <a:xfrm>
            <a:off x="384047" y="3483609"/>
            <a:ext cx="141732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📋 </a:t>
            </a:r>
            <a:r>
              <a:t>История</a:t>
            </a:r>
          </a:p>
        </p:txBody>
      </p:sp>
      <p:sp>
        <p:nvSpPr>
          <p:cNvPr id="337" name="Shape 22"/>
          <p:cNvSpPr/>
          <p:nvPr/>
        </p:nvSpPr>
        <p:spPr>
          <a:xfrm>
            <a:off x="320040" y="3739896"/>
            <a:ext cx="1554481" cy="34747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8" name="Text 23"/>
          <p:cNvSpPr txBox="1"/>
          <p:nvPr/>
        </p:nvSpPr>
        <p:spPr>
          <a:xfrm>
            <a:off x="384047" y="3831082"/>
            <a:ext cx="141732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📊 </a:t>
            </a:r>
            <a:r>
              <a:t>Отчёт</a:t>
            </a:r>
          </a:p>
        </p:txBody>
      </p:sp>
      <p:sp>
        <p:nvSpPr>
          <p:cNvPr id="339" name="Shape 24"/>
          <p:cNvSpPr/>
          <p:nvPr/>
        </p:nvSpPr>
        <p:spPr>
          <a:xfrm>
            <a:off x="320040" y="4087367"/>
            <a:ext cx="1554481" cy="34747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0" name="Text 25"/>
          <p:cNvSpPr txBox="1"/>
          <p:nvPr/>
        </p:nvSpPr>
        <p:spPr>
          <a:xfrm>
            <a:off x="384047" y="4178553"/>
            <a:ext cx="141732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👥 </a:t>
            </a:r>
            <a:r>
              <a:t>Польз-ли</a:t>
            </a:r>
          </a:p>
        </p:txBody>
      </p:sp>
      <p:sp>
        <p:nvSpPr>
          <p:cNvPr id="341" name="Shape 26"/>
          <p:cNvSpPr/>
          <p:nvPr/>
        </p:nvSpPr>
        <p:spPr>
          <a:xfrm>
            <a:off x="320040" y="4434840"/>
            <a:ext cx="1554481" cy="34747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2" name="Text 27"/>
          <p:cNvSpPr txBox="1"/>
          <p:nvPr/>
        </p:nvSpPr>
        <p:spPr>
          <a:xfrm>
            <a:off x="384047" y="4526025"/>
            <a:ext cx="141732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🛒 </a:t>
            </a:r>
            <a:r>
              <a:t>Заказы</a:t>
            </a:r>
          </a:p>
        </p:txBody>
      </p:sp>
      <p:sp>
        <p:nvSpPr>
          <p:cNvPr id="343" name="Shape 28"/>
          <p:cNvSpPr/>
          <p:nvPr/>
        </p:nvSpPr>
        <p:spPr>
          <a:xfrm>
            <a:off x="1920239" y="1307591"/>
            <a:ext cx="6949442" cy="363016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4" name="Text 29"/>
          <p:cNvSpPr txBox="1"/>
          <p:nvPr/>
        </p:nvSpPr>
        <p:spPr>
          <a:xfrm>
            <a:off x="2011679" y="1448239"/>
            <a:ext cx="36576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A2C5B"/>
                </a:solidFill>
              </a:defRPr>
            </a:lvl1pPr>
          </a:lstStyle>
          <a:p>
            <a:pPr/>
            <a:r>
              <a:t>Управление товарами</a:t>
            </a:r>
          </a:p>
        </p:txBody>
      </p:sp>
      <p:sp>
        <p:nvSpPr>
          <p:cNvPr id="345" name="Shape 30"/>
          <p:cNvSpPr/>
          <p:nvPr/>
        </p:nvSpPr>
        <p:spPr>
          <a:xfrm>
            <a:off x="2011679" y="1719072"/>
            <a:ext cx="2286001" cy="274321"/>
          </a:xfrm>
          <a:prstGeom prst="rect">
            <a:avLst/>
          </a:prstGeom>
          <a:solidFill>
            <a:srgbClr val="F4F6FB"/>
          </a:solidFill>
          <a:ln w="12700">
            <a:solidFill>
              <a:srgbClr val="CBD5E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6" name="Text 31"/>
          <p:cNvSpPr txBox="1"/>
          <p:nvPr/>
        </p:nvSpPr>
        <p:spPr>
          <a:xfrm>
            <a:off x="2057400" y="1773681"/>
            <a:ext cx="219456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800">
                <a:solidFill>
                  <a:srgbClr val="7A8AA0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🔍  </a:t>
            </a:r>
            <a:r>
              <a:t>Поиск товара...</a:t>
            </a:r>
          </a:p>
        </p:txBody>
      </p:sp>
      <p:sp>
        <p:nvSpPr>
          <p:cNvPr id="347" name="Shape 32"/>
          <p:cNvSpPr/>
          <p:nvPr/>
        </p:nvSpPr>
        <p:spPr>
          <a:xfrm>
            <a:off x="4434840" y="1719072"/>
            <a:ext cx="1280161" cy="274321"/>
          </a:xfrm>
          <a:prstGeom prst="rect">
            <a:avLst/>
          </a:prstGeom>
          <a:solidFill>
            <a:srgbClr val="2E5BBA"/>
          </a:solidFill>
          <a:ln w="12700">
            <a:solidFill>
              <a:srgbClr val="2E5BB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8" name="Text 33"/>
          <p:cNvSpPr txBox="1"/>
          <p:nvPr/>
        </p:nvSpPr>
        <p:spPr>
          <a:xfrm>
            <a:off x="4480559" y="1792731"/>
            <a:ext cx="11887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+ Добавить</a:t>
            </a:r>
          </a:p>
        </p:txBody>
      </p:sp>
      <p:sp>
        <p:nvSpPr>
          <p:cNvPr id="349" name="Shape 34"/>
          <p:cNvSpPr/>
          <p:nvPr/>
        </p:nvSpPr>
        <p:spPr>
          <a:xfrm>
            <a:off x="5852159" y="1719072"/>
            <a:ext cx="1280161" cy="274321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0" name="Text 35"/>
          <p:cNvSpPr txBox="1"/>
          <p:nvPr/>
        </p:nvSpPr>
        <p:spPr>
          <a:xfrm>
            <a:off x="5897879" y="1773681"/>
            <a:ext cx="118872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3A3A3A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✏️ </a:t>
            </a:r>
            <a:r>
              <a:t>Изменить</a:t>
            </a:r>
          </a:p>
        </p:txBody>
      </p:sp>
      <p:sp>
        <p:nvSpPr>
          <p:cNvPr id="351" name="Shape 36"/>
          <p:cNvSpPr/>
          <p:nvPr/>
        </p:nvSpPr>
        <p:spPr>
          <a:xfrm>
            <a:off x="7269480" y="1719072"/>
            <a:ext cx="1280161" cy="274321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2" name="Text 37"/>
          <p:cNvSpPr txBox="1"/>
          <p:nvPr/>
        </p:nvSpPr>
        <p:spPr>
          <a:xfrm>
            <a:off x="7315200" y="1773681"/>
            <a:ext cx="118872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3A3A3A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🗑 </a:t>
            </a:r>
            <a:r>
              <a:t>Удалить</a:t>
            </a:r>
          </a:p>
        </p:txBody>
      </p:sp>
      <p:sp>
        <p:nvSpPr>
          <p:cNvPr id="353" name="Shape 38"/>
          <p:cNvSpPr/>
          <p:nvPr/>
        </p:nvSpPr>
        <p:spPr>
          <a:xfrm>
            <a:off x="2011679" y="2029967"/>
            <a:ext cx="6858001" cy="274321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4" name="Text 39"/>
          <p:cNvSpPr txBox="1"/>
          <p:nvPr/>
        </p:nvSpPr>
        <p:spPr>
          <a:xfrm>
            <a:off x="2048255" y="2103627"/>
            <a:ext cx="24688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ID</a:t>
            </a:r>
          </a:p>
        </p:txBody>
      </p:sp>
      <p:sp>
        <p:nvSpPr>
          <p:cNvPr id="355" name="Text 40"/>
          <p:cNvSpPr txBox="1"/>
          <p:nvPr/>
        </p:nvSpPr>
        <p:spPr>
          <a:xfrm>
            <a:off x="2368295" y="2103627"/>
            <a:ext cx="170992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Наименование</a:t>
            </a:r>
          </a:p>
        </p:txBody>
      </p:sp>
      <p:sp>
        <p:nvSpPr>
          <p:cNvPr id="356" name="Text 41"/>
          <p:cNvSpPr txBox="1"/>
          <p:nvPr/>
        </p:nvSpPr>
        <p:spPr>
          <a:xfrm>
            <a:off x="4151376" y="2103627"/>
            <a:ext cx="111556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Категория</a:t>
            </a:r>
          </a:p>
        </p:txBody>
      </p:sp>
      <p:sp>
        <p:nvSpPr>
          <p:cNvPr id="357" name="Text 42"/>
          <p:cNvSpPr txBox="1"/>
          <p:nvPr/>
        </p:nvSpPr>
        <p:spPr>
          <a:xfrm>
            <a:off x="5340096" y="2103627"/>
            <a:ext cx="56692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Ед.изм.</a:t>
            </a:r>
          </a:p>
        </p:txBody>
      </p:sp>
      <p:sp>
        <p:nvSpPr>
          <p:cNvPr id="358" name="Text 43"/>
          <p:cNvSpPr txBox="1"/>
          <p:nvPr/>
        </p:nvSpPr>
        <p:spPr>
          <a:xfrm>
            <a:off x="5980176" y="2103627"/>
            <a:ext cx="47548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Кол-во</a:t>
            </a:r>
          </a:p>
        </p:txBody>
      </p:sp>
      <p:sp>
        <p:nvSpPr>
          <p:cNvPr id="359" name="Text 44"/>
          <p:cNvSpPr txBox="1"/>
          <p:nvPr/>
        </p:nvSpPr>
        <p:spPr>
          <a:xfrm>
            <a:off x="6528816" y="2103627"/>
            <a:ext cx="42976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Мин.</a:t>
            </a:r>
          </a:p>
        </p:txBody>
      </p:sp>
      <p:sp>
        <p:nvSpPr>
          <p:cNvPr id="360" name="Text 45"/>
          <p:cNvSpPr txBox="1"/>
          <p:nvPr/>
        </p:nvSpPr>
        <p:spPr>
          <a:xfrm>
            <a:off x="7031735" y="2103627"/>
            <a:ext cx="70408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Цена</a:t>
            </a:r>
          </a:p>
        </p:txBody>
      </p:sp>
      <p:sp>
        <p:nvSpPr>
          <p:cNvPr id="361" name="Shape 46"/>
          <p:cNvSpPr/>
          <p:nvPr/>
        </p:nvSpPr>
        <p:spPr>
          <a:xfrm>
            <a:off x="2011679" y="2322576"/>
            <a:ext cx="6858001" cy="27432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2" name="Text 47"/>
          <p:cNvSpPr txBox="1"/>
          <p:nvPr/>
        </p:nvSpPr>
        <p:spPr>
          <a:xfrm>
            <a:off x="2048255" y="2396235"/>
            <a:ext cx="24688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63" name="Text 48"/>
          <p:cNvSpPr txBox="1"/>
          <p:nvPr/>
        </p:nvSpPr>
        <p:spPr>
          <a:xfrm>
            <a:off x="2368295" y="2396235"/>
            <a:ext cx="170992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Цемент М400</a:t>
            </a:r>
          </a:p>
        </p:txBody>
      </p:sp>
      <p:sp>
        <p:nvSpPr>
          <p:cNvPr id="364" name="Text 49"/>
          <p:cNvSpPr txBox="1"/>
          <p:nvPr/>
        </p:nvSpPr>
        <p:spPr>
          <a:xfrm>
            <a:off x="4151376" y="2396235"/>
            <a:ext cx="111556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Стройматериалы</a:t>
            </a:r>
          </a:p>
        </p:txBody>
      </p:sp>
      <p:sp>
        <p:nvSpPr>
          <p:cNvPr id="365" name="Text 50"/>
          <p:cNvSpPr txBox="1"/>
          <p:nvPr/>
        </p:nvSpPr>
        <p:spPr>
          <a:xfrm>
            <a:off x="5340096" y="2396235"/>
            <a:ext cx="56692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мешок</a:t>
            </a:r>
          </a:p>
        </p:txBody>
      </p:sp>
      <p:sp>
        <p:nvSpPr>
          <p:cNvPr id="366" name="Text 51"/>
          <p:cNvSpPr txBox="1"/>
          <p:nvPr/>
        </p:nvSpPr>
        <p:spPr>
          <a:xfrm>
            <a:off x="5980176" y="2396235"/>
            <a:ext cx="47548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150</a:t>
            </a:r>
          </a:p>
        </p:txBody>
      </p:sp>
      <p:sp>
        <p:nvSpPr>
          <p:cNvPr id="367" name="Text 52"/>
          <p:cNvSpPr txBox="1"/>
          <p:nvPr/>
        </p:nvSpPr>
        <p:spPr>
          <a:xfrm>
            <a:off x="6528816" y="2396235"/>
            <a:ext cx="42976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20</a:t>
            </a:r>
          </a:p>
        </p:txBody>
      </p:sp>
      <p:sp>
        <p:nvSpPr>
          <p:cNvPr id="368" name="Text 53"/>
          <p:cNvSpPr txBox="1"/>
          <p:nvPr/>
        </p:nvSpPr>
        <p:spPr>
          <a:xfrm>
            <a:off x="7031735" y="2396235"/>
            <a:ext cx="70408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850.00</a:t>
            </a:r>
          </a:p>
        </p:txBody>
      </p:sp>
      <p:sp>
        <p:nvSpPr>
          <p:cNvPr id="369" name="Shape 54"/>
          <p:cNvSpPr/>
          <p:nvPr/>
        </p:nvSpPr>
        <p:spPr>
          <a:xfrm>
            <a:off x="2011679" y="2596895"/>
            <a:ext cx="6858001" cy="274321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0" name="Text 55"/>
          <p:cNvSpPr txBox="1"/>
          <p:nvPr/>
        </p:nvSpPr>
        <p:spPr>
          <a:xfrm>
            <a:off x="2048255" y="2670555"/>
            <a:ext cx="24688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71" name="Text 56"/>
          <p:cNvSpPr txBox="1"/>
          <p:nvPr/>
        </p:nvSpPr>
        <p:spPr>
          <a:xfrm>
            <a:off x="2368295" y="2670555"/>
            <a:ext cx="170992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Арматура 12мм</a:t>
            </a:r>
          </a:p>
        </p:txBody>
      </p:sp>
      <p:sp>
        <p:nvSpPr>
          <p:cNvPr id="372" name="Text 57"/>
          <p:cNvSpPr txBox="1"/>
          <p:nvPr/>
        </p:nvSpPr>
        <p:spPr>
          <a:xfrm>
            <a:off x="4151376" y="2670555"/>
            <a:ext cx="111556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Металлопрокат</a:t>
            </a:r>
          </a:p>
        </p:txBody>
      </p:sp>
      <p:sp>
        <p:nvSpPr>
          <p:cNvPr id="373" name="Text 58"/>
          <p:cNvSpPr txBox="1"/>
          <p:nvPr/>
        </p:nvSpPr>
        <p:spPr>
          <a:xfrm>
            <a:off x="5340096" y="2670555"/>
            <a:ext cx="56692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пог.м</a:t>
            </a:r>
          </a:p>
        </p:txBody>
      </p:sp>
      <p:sp>
        <p:nvSpPr>
          <p:cNvPr id="374" name="Text 59"/>
          <p:cNvSpPr txBox="1"/>
          <p:nvPr/>
        </p:nvSpPr>
        <p:spPr>
          <a:xfrm>
            <a:off x="5980176" y="2670555"/>
            <a:ext cx="47548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C0392B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75" name="Text 60"/>
          <p:cNvSpPr txBox="1"/>
          <p:nvPr/>
        </p:nvSpPr>
        <p:spPr>
          <a:xfrm>
            <a:off x="6528816" y="2670555"/>
            <a:ext cx="42976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376" name="Text 61"/>
          <p:cNvSpPr txBox="1"/>
          <p:nvPr/>
        </p:nvSpPr>
        <p:spPr>
          <a:xfrm>
            <a:off x="7031735" y="2670555"/>
            <a:ext cx="70408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280.00</a:t>
            </a:r>
          </a:p>
        </p:txBody>
      </p:sp>
      <p:sp>
        <p:nvSpPr>
          <p:cNvPr id="377" name="Shape 62"/>
          <p:cNvSpPr/>
          <p:nvPr/>
        </p:nvSpPr>
        <p:spPr>
          <a:xfrm>
            <a:off x="2011679" y="2871216"/>
            <a:ext cx="6858001" cy="27432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8" name="Text 63"/>
          <p:cNvSpPr txBox="1"/>
          <p:nvPr/>
        </p:nvSpPr>
        <p:spPr>
          <a:xfrm>
            <a:off x="2048255" y="2944875"/>
            <a:ext cx="24688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79" name="Text 64"/>
          <p:cNvSpPr txBox="1"/>
          <p:nvPr/>
        </p:nvSpPr>
        <p:spPr>
          <a:xfrm>
            <a:off x="2368295" y="2944875"/>
            <a:ext cx="170992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Краска белая 10л</a:t>
            </a:r>
          </a:p>
        </p:txBody>
      </p:sp>
      <p:sp>
        <p:nvSpPr>
          <p:cNvPr id="380" name="Text 65"/>
          <p:cNvSpPr txBox="1"/>
          <p:nvPr/>
        </p:nvSpPr>
        <p:spPr>
          <a:xfrm>
            <a:off x="4151376" y="2944875"/>
            <a:ext cx="111556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Лакокраска</a:t>
            </a:r>
          </a:p>
        </p:txBody>
      </p:sp>
      <p:sp>
        <p:nvSpPr>
          <p:cNvPr id="381" name="Text 66"/>
          <p:cNvSpPr txBox="1"/>
          <p:nvPr/>
        </p:nvSpPr>
        <p:spPr>
          <a:xfrm>
            <a:off x="5340096" y="2944875"/>
            <a:ext cx="56692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шт</a:t>
            </a:r>
          </a:p>
        </p:txBody>
      </p:sp>
      <p:sp>
        <p:nvSpPr>
          <p:cNvPr id="382" name="Text 67"/>
          <p:cNvSpPr txBox="1"/>
          <p:nvPr/>
        </p:nvSpPr>
        <p:spPr>
          <a:xfrm>
            <a:off x="5980176" y="2944875"/>
            <a:ext cx="47548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38</a:t>
            </a:r>
          </a:p>
        </p:txBody>
      </p:sp>
      <p:sp>
        <p:nvSpPr>
          <p:cNvPr id="383" name="Text 68"/>
          <p:cNvSpPr txBox="1"/>
          <p:nvPr/>
        </p:nvSpPr>
        <p:spPr>
          <a:xfrm>
            <a:off x="6528816" y="2944875"/>
            <a:ext cx="42976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384" name="Text 69"/>
          <p:cNvSpPr txBox="1"/>
          <p:nvPr/>
        </p:nvSpPr>
        <p:spPr>
          <a:xfrm>
            <a:off x="7031735" y="2944875"/>
            <a:ext cx="70408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1200.00</a:t>
            </a:r>
          </a:p>
        </p:txBody>
      </p:sp>
      <p:sp>
        <p:nvSpPr>
          <p:cNvPr id="385" name="Shape 70"/>
          <p:cNvSpPr/>
          <p:nvPr/>
        </p:nvSpPr>
        <p:spPr>
          <a:xfrm>
            <a:off x="2011679" y="3145535"/>
            <a:ext cx="6858001" cy="274321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6" name="Text 71"/>
          <p:cNvSpPr txBox="1"/>
          <p:nvPr/>
        </p:nvSpPr>
        <p:spPr>
          <a:xfrm>
            <a:off x="2048255" y="3219195"/>
            <a:ext cx="24688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87" name="Text 72"/>
          <p:cNvSpPr txBox="1"/>
          <p:nvPr/>
        </p:nvSpPr>
        <p:spPr>
          <a:xfrm>
            <a:off x="2368295" y="3219195"/>
            <a:ext cx="170992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Кирпич красный</a:t>
            </a:r>
          </a:p>
        </p:txBody>
      </p:sp>
      <p:sp>
        <p:nvSpPr>
          <p:cNvPr id="388" name="Text 73"/>
          <p:cNvSpPr txBox="1"/>
          <p:nvPr/>
        </p:nvSpPr>
        <p:spPr>
          <a:xfrm>
            <a:off x="4151376" y="3219195"/>
            <a:ext cx="111556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Стройматериалы</a:t>
            </a:r>
          </a:p>
        </p:txBody>
      </p:sp>
      <p:sp>
        <p:nvSpPr>
          <p:cNvPr id="389" name="Text 74"/>
          <p:cNvSpPr txBox="1"/>
          <p:nvPr/>
        </p:nvSpPr>
        <p:spPr>
          <a:xfrm>
            <a:off x="5340096" y="3219195"/>
            <a:ext cx="56692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шт</a:t>
            </a:r>
          </a:p>
        </p:txBody>
      </p:sp>
      <p:sp>
        <p:nvSpPr>
          <p:cNvPr id="390" name="Text 75"/>
          <p:cNvSpPr txBox="1"/>
          <p:nvPr/>
        </p:nvSpPr>
        <p:spPr>
          <a:xfrm>
            <a:off x="5980176" y="3219195"/>
            <a:ext cx="47548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2000</a:t>
            </a:r>
          </a:p>
        </p:txBody>
      </p:sp>
      <p:sp>
        <p:nvSpPr>
          <p:cNvPr id="391" name="Text 76"/>
          <p:cNvSpPr txBox="1"/>
          <p:nvPr/>
        </p:nvSpPr>
        <p:spPr>
          <a:xfrm>
            <a:off x="6528816" y="3219195"/>
            <a:ext cx="42976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500</a:t>
            </a:r>
          </a:p>
        </p:txBody>
      </p:sp>
      <p:sp>
        <p:nvSpPr>
          <p:cNvPr id="392" name="Text 77"/>
          <p:cNvSpPr txBox="1"/>
          <p:nvPr/>
        </p:nvSpPr>
        <p:spPr>
          <a:xfrm>
            <a:off x="7031735" y="3219195"/>
            <a:ext cx="70408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12.00</a:t>
            </a:r>
          </a:p>
        </p:txBody>
      </p:sp>
      <p:sp>
        <p:nvSpPr>
          <p:cNvPr id="393" name="Text 78"/>
          <p:cNvSpPr txBox="1"/>
          <p:nvPr/>
        </p:nvSpPr>
        <p:spPr>
          <a:xfrm>
            <a:off x="2011679" y="4370578"/>
            <a:ext cx="68580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i="1" sz="800">
                <a:solidFill>
                  <a:srgbClr val="C0392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⚠️ </a:t>
            </a:r>
            <a:r>
              <a:t>Строка 2: остаток (5) ниже минимума (10) — выделена цветом</a:t>
            </a:r>
          </a:p>
        </p:txBody>
      </p:sp>
      <p:sp>
        <p:nvSpPr>
          <p:cNvPr id="394" name="Text 79"/>
          <p:cNvSpPr txBox="1"/>
          <p:nvPr/>
        </p:nvSpPr>
        <p:spPr>
          <a:xfrm>
            <a:off x="8595359" y="4828539"/>
            <a:ext cx="365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7A8AA0"/>
                </a:solidFill>
              </a:defRPr>
            </a:lvl1pPr>
          </a:lstStyle>
          <a:p>
            <a:pPr/>
            <a:r>
              <a:t>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Shape 0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7" name="Text 1"/>
          <p:cNvSpPr txBox="1"/>
          <p:nvPr/>
        </p:nvSpPr>
        <p:spPr>
          <a:xfrm>
            <a:off x="365760" y="309968"/>
            <a:ext cx="8595360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1A2C5B"/>
                </a:solidFill>
              </a:defRPr>
            </a:lvl1pPr>
          </a:lstStyle>
          <a:p>
            <a:pPr/>
            <a:r>
              <a:t>РЕЗУЛЬТАТЫ ТЕСТИРОВАНИЯ</a:t>
            </a:r>
          </a:p>
        </p:txBody>
      </p:sp>
      <p:sp>
        <p:nvSpPr>
          <p:cNvPr id="398" name="Shape 2"/>
          <p:cNvSpPr/>
          <p:nvPr/>
        </p:nvSpPr>
        <p:spPr>
          <a:xfrm>
            <a:off x="320039" y="804672"/>
            <a:ext cx="8641082" cy="347473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9" name="Text 3"/>
          <p:cNvSpPr txBox="1"/>
          <p:nvPr/>
        </p:nvSpPr>
        <p:spPr>
          <a:xfrm>
            <a:off x="365760" y="914908"/>
            <a:ext cx="19202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Модуль</a:t>
            </a:r>
          </a:p>
        </p:txBody>
      </p:sp>
      <p:sp>
        <p:nvSpPr>
          <p:cNvPr id="400" name="Text 4"/>
          <p:cNvSpPr txBox="1"/>
          <p:nvPr/>
        </p:nvSpPr>
        <p:spPr>
          <a:xfrm>
            <a:off x="2377439" y="914908"/>
            <a:ext cx="35661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Тестовый сценарий</a:t>
            </a:r>
          </a:p>
        </p:txBody>
      </p:sp>
      <p:sp>
        <p:nvSpPr>
          <p:cNvPr id="401" name="Text 5"/>
          <p:cNvSpPr txBox="1"/>
          <p:nvPr/>
        </p:nvSpPr>
        <p:spPr>
          <a:xfrm>
            <a:off x="6035040" y="914908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Ожидаемый результат</a:t>
            </a:r>
          </a:p>
        </p:txBody>
      </p:sp>
      <p:sp>
        <p:nvSpPr>
          <p:cNvPr id="402" name="Text 6"/>
          <p:cNvSpPr txBox="1"/>
          <p:nvPr/>
        </p:nvSpPr>
        <p:spPr>
          <a:xfrm>
            <a:off x="7955280" y="908558"/>
            <a:ext cx="6858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403" name="Shape 7"/>
          <p:cNvSpPr/>
          <p:nvPr/>
        </p:nvSpPr>
        <p:spPr>
          <a:xfrm>
            <a:off x="320039" y="1179575"/>
            <a:ext cx="8641082" cy="338329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4" name="Text 8"/>
          <p:cNvSpPr txBox="1"/>
          <p:nvPr/>
        </p:nvSpPr>
        <p:spPr>
          <a:xfrm>
            <a:off x="365760" y="1285240"/>
            <a:ext cx="19202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Авторизация</a:t>
            </a:r>
          </a:p>
        </p:txBody>
      </p:sp>
      <p:sp>
        <p:nvSpPr>
          <p:cNvPr id="405" name="Text 9"/>
          <p:cNvSpPr txBox="1"/>
          <p:nvPr/>
        </p:nvSpPr>
        <p:spPr>
          <a:xfrm>
            <a:off x="2377439" y="1285240"/>
            <a:ext cx="35661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Верные данные — admin / operator / client</a:t>
            </a:r>
          </a:p>
        </p:txBody>
      </p:sp>
      <p:sp>
        <p:nvSpPr>
          <p:cNvPr id="406" name="Text 10"/>
          <p:cNvSpPr txBox="1"/>
          <p:nvPr/>
        </p:nvSpPr>
        <p:spPr>
          <a:xfrm>
            <a:off x="6035040" y="1285240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Вход + корректный набор кнопок</a:t>
            </a:r>
          </a:p>
        </p:txBody>
      </p:sp>
      <p:sp>
        <p:nvSpPr>
          <p:cNvPr id="407" name="Text 11"/>
          <p:cNvSpPr txBox="1"/>
          <p:nvPr/>
        </p:nvSpPr>
        <p:spPr>
          <a:xfrm>
            <a:off x="7955280" y="1221740"/>
            <a:ext cx="6858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1A6B3C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✅</a:t>
            </a:r>
          </a:p>
        </p:txBody>
      </p:sp>
      <p:sp>
        <p:nvSpPr>
          <p:cNvPr id="408" name="Shape 12"/>
          <p:cNvSpPr/>
          <p:nvPr/>
        </p:nvSpPr>
        <p:spPr>
          <a:xfrm>
            <a:off x="320039" y="1527047"/>
            <a:ext cx="8641082" cy="3383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9" name="Text 13"/>
          <p:cNvSpPr txBox="1"/>
          <p:nvPr/>
        </p:nvSpPr>
        <p:spPr>
          <a:xfrm>
            <a:off x="365760" y="1632711"/>
            <a:ext cx="19202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Авторизация</a:t>
            </a:r>
          </a:p>
        </p:txBody>
      </p:sp>
      <p:sp>
        <p:nvSpPr>
          <p:cNvPr id="410" name="Text 14"/>
          <p:cNvSpPr txBox="1"/>
          <p:nvPr/>
        </p:nvSpPr>
        <p:spPr>
          <a:xfrm>
            <a:off x="2377439" y="1632711"/>
            <a:ext cx="35661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Неверный пароль</a:t>
            </a:r>
          </a:p>
        </p:txBody>
      </p:sp>
      <p:sp>
        <p:nvSpPr>
          <p:cNvPr id="411" name="Text 15"/>
          <p:cNvSpPr txBox="1"/>
          <p:nvPr/>
        </p:nvSpPr>
        <p:spPr>
          <a:xfrm>
            <a:off x="6035040" y="1632711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Сообщение об ошибке, вход закрыт</a:t>
            </a:r>
          </a:p>
        </p:txBody>
      </p:sp>
      <p:sp>
        <p:nvSpPr>
          <p:cNvPr id="412" name="Text 16"/>
          <p:cNvSpPr txBox="1"/>
          <p:nvPr/>
        </p:nvSpPr>
        <p:spPr>
          <a:xfrm>
            <a:off x="7955280" y="1569211"/>
            <a:ext cx="6858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1A6B3C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✅</a:t>
            </a:r>
          </a:p>
        </p:txBody>
      </p:sp>
      <p:sp>
        <p:nvSpPr>
          <p:cNvPr id="413" name="Shape 17"/>
          <p:cNvSpPr/>
          <p:nvPr/>
        </p:nvSpPr>
        <p:spPr>
          <a:xfrm>
            <a:off x="320039" y="1874520"/>
            <a:ext cx="8641082" cy="338329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4" name="Text 18"/>
          <p:cNvSpPr txBox="1"/>
          <p:nvPr/>
        </p:nvSpPr>
        <p:spPr>
          <a:xfrm>
            <a:off x="365760" y="1980183"/>
            <a:ext cx="19202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Товары</a:t>
            </a:r>
          </a:p>
        </p:txBody>
      </p:sp>
      <p:sp>
        <p:nvSpPr>
          <p:cNvPr id="415" name="Text 19"/>
          <p:cNvSpPr txBox="1"/>
          <p:nvPr/>
        </p:nvSpPr>
        <p:spPr>
          <a:xfrm>
            <a:off x="2377439" y="1980183"/>
            <a:ext cx="35661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Добавление с заполненными полями</a:t>
            </a:r>
          </a:p>
        </p:txBody>
      </p:sp>
      <p:sp>
        <p:nvSpPr>
          <p:cNvPr id="416" name="Text 20"/>
          <p:cNvSpPr txBox="1"/>
          <p:nvPr/>
        </p:nvSpPr>
        <p:spPr>
          <a:xfrm>
            <a:off x="6035040" y="1980183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Запись в БД, строка в таблице</a:t>
            </a:r>
          </a:p>
        </p:txBody>
      </p:sp>
      <p:sp>
        <p:nvSpPr>
          <p:cNvPr id="417" name="Text 21"/>
          <p:cNvSpPr txBox="1"/>
          <p:nvPr/>
        </p:nvSpPr>
        <p:spPr>
          <a:xfrm>
            <a:off x="7955280" y="1916683"/>
            <a:ext cx="6858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1A6B3C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✅</a:t>
            </a:r>
          </a:p>
        </p:txBody>
      </p:sp>
      <p:sp>
        <p:nvSpPr>
          <p:cNvPr id="418" name="Shape 22"/>
          <p:cNvSpPr/>
          <p:nvPr/>
        </p:nvSpPr>
        <p:spPr>
          <a:xfrm>
            <a:off x="320039" y="2221992"/>
            <a:ext cx="8641082" cy="3383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9" name="Text 23"/>
          <p:cNvSpPr txBox="1"/>
          <p:nvPr/>
        </p:nvSpPr>
        <p:spPr>
          <a:xfrm>
            <a:off x="365760" y="2327655"/>
            <a:ext cx="19202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Товары</a:t>
            </a:r>
          </a:p>
        </p:txBody>
      </p:sp>
      <p:sp>
        <p:nvSpPr>
          <p:cNvPr id="420" name="Text 24"/>
          <p:cNvSpPr txBox="1"/>
          <p:nvPr/>
        </p:nvSpPr>
        <p:spPr>
          <a:xfrm>
            <a:off x="2377439" y="2327655"/>
            <a:ext cx="35661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Поиск по подстроке наименования</a:t>
            </a:r>
          </a:p>
        </p:txBody>
      </p:sp>
      <p:sp>
        <p:nvSpPr>
          <p:cNvPr id="421" name="Text 25"/>
          <p:cNvSpPr txBox="1"/>
          <p:nvPr/>
        </p:nvSpPr>
        <p:spPr>
          <a:xfrm>
            <a:off x="6035040" y="2327655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Все совпадения в результате</a:t>
            </a:r>
          </a:p>
        </p:txBody>
      </p:sp>
      <p:sp>
        <p:nvSpPr>
          <p:cNvPr id="422" name="Text 26"/>
          <p:cNvSpPr txBox="1"/>
          <p:nvPr/>
        </p:nvSpPr>
        <p:spPr>
          <a:xfrm>
            <a:off x="7955280" y="2264155"/>
            <a:ext cx="6858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1A6B3C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✅</a:t>
            </a:r>
          </a:p>
        </p:txBody>
      </p:sp>
      <p:sp>
        <p:nvSpPr>
          <p:cNvPr id="423" name="Shape 27"/>
          <p:cNvSpPr/>
          <p:nvPr/>
        </p:nvSpPr>
        <p:spPr>
          <a:xfrm>
            <a:off x="320039" y="2569464"/>
            <a:ext cx="8641082" cy="338329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4" name="Text 28"/>
          <p:cNvSpPr txBox="1"/>
          <p:nvPr/>
        </p:nvSpPr>
        <p:spPr>
          <a:xfrm>
            <a:off x="365760" y="2675127"/>
            <a:ext cx="19202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Поступление</a:t>
            </a:r>
          </a:p>
        </p:txBody>
      </p:sp>
      <p:sp>
        <p:nvSpPr>
          <p:cNvPr id="425" name="Text 29"/>
          <p:cNvSpPr txBox="1"/>
          <p:nvPr/>
        </p:nvSpPr>
        <p:spPr>
          <a:xfrm>
            <a:off x="2377439" y="2675127"/>
            <a:ext cx="35661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Регистрация поступления</a:t>
            </a:r>
          </a:p>
        </p:txBody>
      </p:sp>
      <p:sp>
        <p:nvSpPr>
          <p:cNvPr id="426" name="Text 30"/>
          <p:cNvSpPr txBox="1"/>
          <p:nvPr/>
        </p:nvSpPr>
        <p:spPr>
          <a:xfrm>
            <a:off x="6035040" y="2675127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quantity += N; запись в receipts</a:t>
            </a:r>
          </a:p>
        </p:txBody>
      </p:sp>
      <p:sp>
        <p:nvSpPr>
          <p:cNvPr id="427" name="Text 31"/>
          <p:cNvSpPr txBox="1"/>
          <p:nvPr/>
        </p:nvSpPr>
        <p:spPr>
          <a:xfrm>
            <a:off x="7955280" y="2611627"/>
            <a:ext cx="6858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1A6B3C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✅</a:t>
            </a:r>
          </a:p>
        </p:txBody>
      </p:sp>
      <p:sp>
        <p:nvSpPr>
          <p:cNvPr id="428" name="Shape 32"/>
          <p:cNvSpPr/>
          <p:nvPr/>
        </p:nvSpPr>
        <p:spPr>
          <a:xfrm>
            <a:off x="320039" y="2916935"/>
            <a:ext cx="8641082" cy="3383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9" name="Text 33"/>
          <p:cNvSpPr txBox="1"/>
          <p:nvPr/>
        </p:nvSpPr>
        <p:spPr>
          <a:xfrm>
            <a:off x="365760" y="3022599"/>
            <a:ext cx="19202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Расход</a:t>
            </a:r>
          </a:p>
        </p:txBody>
      </p:sp>
      <p:sp>
        <p:nvSpPr>
          <p:cNvPr id="430" name="Text 34"/>
          <p:cNvSpPr txBox="1"/>
          <p:nvPr/>
        </p:nvSpPr>
        <p:spPr>
          <a:xfrm>
            <a:off x="2377439" y="3022599"/>
            <a:ext cx="35661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Расход &gt; текущий остаток</a:t>
            </a:r>
          </a:p>
        </p:txBody>
      </p:sp>
      <p:sp>
        <p:nvSpPr>
          <p:cNvPr id="431" name="Text 35"/>
          <p:cNvSpPr txBox="1"/>
          <p:nvPr/>
        </p:nvSpPr>
        <p:spPr>
          <a:xfrm>
            <a:off x="6035040" y="2970311"/>
            <a:ext cx="1828801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Операция отклонена, данные не изменены</a:t>
            </a:r>
          </a:p>
        </p:txBody>
      </p:sp>
      <p:sp>
        <p:nvSpPr>
          <p:cNvPr id="432" name="Text 36"/>
          <p:cNvSpPr txBox="1"/>
          <p:nvPr/>
        </p:nvSpPr>
        <p:spPr>
          <a:xfrm>
            <a:off x="7955280" y="2959099"/>
            <a:ext cx="6858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1A6B3C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✅</a:t>
            </a:r>
          </a:p>
        </p:txBody>
      </p:sp>
      <p:sp>
        <p:nvSpPr>
          <p:cNvPr id="433" name="Shape 37"/>
          <p:cNvSpPr/>
          <p:nvPr/>
        </p:nvSpPr>
        <p:spPr>
          <a:xfrm>
            <a:off x="320039" y="3264408"/>
            <a:ext cx="8641082" cy="338329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4" name="Text 38"/>
          <p:cNvSpPr txBox="1"/>
          <p:nvPr/>
        </p:nvSpPr>
        <p:spPr>
          <a:xfrm>
            <a:off x="365760" y="3370072"/>
            <a:ext cx="19202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Транзакция</a:t>
            </a:r>
          </a:p>
        </p:txBody>
      </p:sp>
      <p:sp>
        <p:nvSpPr>
          <p:cNvPr id="435" name="Text 39"/>
          <p:cNvSpPr txBox="1"/>
          <p:nvPr/>
        </p:nvSpPr>
        <p:spPr>
          <a:xfrm>
            <a:off x="2377439" y="3370072"/>
            <a:ext cx="35661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Ошибка после INSERT в receipts</a:t>
            </a:r>
          </a:p>
        </p:txBody>
      </p:sp>
      <p:sp>
        <p:nvSpPr>
          <p:cNvPr id="436" name="Text 40"/>
          <p:cNvSpPr txBox="1"/>
          <p:nvPr/>
        </p:nvSpPr>
        <p:spPr>
          <a:xfrm>
            <a:off x="6035040" y="3370072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rollback; данные в products не изменены</a:t>
            </a:r>
          </a:p>
        </p:txBody>
      </p:sp>
      <p:sp>
        <p:nvSpPr>
          <p:cNvPr id="437" name="Text 41"/>
          <p:cNvSpPr txBox="1"/>
          <p:nvPr/>
        </p:nvSpPr>
        <p:spPr>
          <a:xfrm>
            <a:off x="7955280" y="3306572"/>
            <a:ext cx="6858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1A6B3C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✅</a:t>
            </a:r>
          </a:p>
        </p:txBody>
      </p:sp>
      <p:sp>
        <p:nvSpPr>
          <p:cNvPr id="438" name="Shape 42"/>
          <p:cNvSpPr/>
          <p:nvPr/>
        </p:nvSpPr>
        <p:spPr>
          <a:xfrm>
            <a:off x="320039" y="3611879"/>
            <a:ext cx="8641082" cy="3383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9" name="Text 43"/>
          <p:cNvSpPr txBox="1"/>
          <p:nvPr/>
        </p:nvSpPr>
        <p:spPr>
          <a:xfrm>
            <a:off x="365760" y="3717544"/>
            <a:ext cx="19202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Низкий остаток</a:t>
            </a:r>
          </a:p>
        </p:txBody>
      </p:sp>
      <p:sp>
        <p:nvSpPr>
          <p:cNvPr id="440" name="Text 44"/>
          <p:cNvSpPr txBox="1"/>
          <p:nvPr/>
        </p:nvSpPr>
        <p:spPr>
          <a:xfrm>
            <a:off x="2377439" y="3717544"/>
            <a:ext cx="35661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quantity ≤ min_quantity</a:t>
            </a:r>
          </a:p>
        </p:txBody>
      </p:sp>
      <p:sp>
        <p:nvSpPr>
          <p:cNvPr id="441" name="Text 45"/>
          <p:cNvSpPr txBox="1"/>
          <p:nvPr/>
        </p:nvSpPr>
        <p:spPr>
          <a:xfrm>
            <a:off x="6035040" y="3717544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Строка в панели, розовый фон при 0</a:t>
            </a:r>
          </a:p>
        </p:txBody>
      </p:sp>
      <p:sp>
        <p:nvSpPr>
          <p:cNvPr id="442" name="Text 46"/>
          <p:cNvSpPr txBox="1"/>
          <p:nvPr/>
        </p:nvSpPr>
        <p:spPr>
          <a:xfrm>
            <a:off x="7955280" y="3654044"/>
            <a:ext cx="6858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1A6B3C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✅</a:t>
            </a:r>
          </a:p>
        </p:txBody>
      </p:sp>
      <p:sp>
        <p:nvSpPr>
          <p:cNvPr id="443" name="Shape 47"/>
          <p:cNvSpPr/>
          <p:nvPr/>
        </p:nvSpPr>
        <p:spPr>
          <a:xfrm>
            <a:off x="320039" y="3959352"/>
            <a:ext cx="8641082" cy="338329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4" name="Text 48"/>
          <p:cNvSpPr txBox="1"/>
          <p:nvPr/>
        </p:nvSpPr>
        <p:spPr>
          <a:xfrm>
            <a:off x="365760" y="4065016"/>
            <a:ext cx="19202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Отчёт</a:t>
            </a:r>
          </a:p>
        </p:txBody>
      </p:sp>
      <p:sp>
        <p:nvSpPr>
          <p:cNvPr id="445" name="Text 49"/>
          <p:cNvSpPr txBox="1"/>
          <p:nvPr/>
        </p:nvSpPr>
        <p:spPr>
          <a:xfrm>
            <a:off x="2377439" y="4065016"/>
            <a:ext cx="35661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Суммарная стоимость = Σ price×qty</a:t>
            </a:r>
          </a:p>
        </p:txBody>
      </p:sp>
      <p:sp>
        <p:nvSpPr>
          <p:cNvPr id="446" name="Text 50"/>
          <p:cNvSpPr txBox="1"/>
          <p:nvPr/>
        </p:nvSpPr>
        <p:spPr>
          <a:xfrm>
            <a:off x="6035040" y="4065016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Совпадение с ручным расчётом</a:t>
            </a:r>
          </a:p>
        </p:txBody>
      </p:sp>
      <p:sp>
        <p:nvSpPr>
          <p:cNvPr id="447" name="Text 51"/>
          <p:cNvSpPr txBox="1"/>
          <p:nvPr/>
        </p:nvSpPr>
        <p:spPr>
          <a:xfrm>
            <a:off x="7955280" y="4001516"/>
            <a:ext cx="6858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1A6B3C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✅</a:t>
            </a:r>
          </a:p>
        </p:txBody>
      </p:sp>
      <p:sp>
        <p:nvSpPr>
          <p:cNvPr id="448" name="Shape 52"/>
          <p:cNvSpPr/>
          <p:nvPr/>
        </p:nvSpPr>
        <p:spPr>
          <a:xfrm>
            <a:off x="320039" y="4306823"/>
            <a:ext cx="8641082" cy="3383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9" name="Text 53"/>
          <p:cNvSpPr txBox="1"/>
          <p:nvPr/>
        </p:nvSpPr>
        <p:spPr>
          <a:xfrm>
            <a:off x="365760" y="4412488"/>
            <a:ext cx="19202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Заказы</a:t>
            </a:r>
          </a:p>
        </p:txBody>
      </p:sp>
      <p:sp>
        <p:nvSpPr>
          <p:cNvPr id="450" name="Text 54"/>
          <p:cNvSpPr txBox="1"/>
          <p:nvPr/>
        </p:nvSpPr>
        <p:spPr>
          <a:xfrm>
            <a:off x="2377439" y="4412488"/>
            <a:ext cx="35661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Оформление заказа клиентом</a:t>
            </a:r>
          </a:p>
        </p:txBody>
      </p:sp>
      <p:sp>
        <p:nvSpPr>
          <p:cNvPr id="451" name="Text 55"/>
          <p:cNvSpPr txBox="1"/>
          <p:nvPr/>
        </p:nvSpPr>
        <p:spPr>
          <a:xfrm>
            <a:off x="6035040" y="4360199"/>
            <a:ext cx="1828801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A3A3A"/>
                </a:solidFill>
              </a:defRPr>
            </a:lvl1pPr>
          </a:lstStyle>
          <a:p>
            <a:pPr/>
            <a:r>
              <a:t>Остатки уменьшены, заказ у администратора</a:t>
            </a:r>
          </a:p>
        </p:txBody>
      </p:sp>
      <p:sp>
        <p:nvSpPr>
          <p:cNvPr id="452" name="Text 56"/>
          <p:cNvSpPr txBox="1"/>
          <p:nvPr/>
        </p:nvSpPr>
        <p:spPr>
          <a:xfrm>
            <a:off x="7955280" y="4348988"/>
            <a:ext cx="6858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1A6B3C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✅</a:t>
            </a:r>
          </a:p>
        </p:txBody>
      </p:sp>
      <p:sp>
        <p:nvSpPr>
          <p:cNvPr id="453" name="Text 57"/>
          <p:cNvSpPr txBox="1"/>
          <p:nvPr/>
        </p:nvSpPr>
        <p:spPr>
          <a:xfrm>
            <a:off x="6400800" y="4805679"/>
            <a:ext cx="24688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900">
                <a:solidFill>
                  <a:srgbClr val="1A6B3C"/>
                </a:solidFill>
              </a:defRPr>
            </a:lvl1pPr>
          </a:lstStyle>
          <a:p>
            <a:pPr/>
            <a:r>
              <a:t>Все 10 сценариев пройдены успешно</a:t>
            </a:r>
          </a:p>
        </p:txBody>
      </p:sp>
      <p:sp>
        <p:nvSpPr>
          <p:cNvPr id="454" name="Text 58"/>
          <p:cNvSpPr txBox="1"/>
          <p:nvPr/>
        </p:nvSpPr>
        <p:spPr>
          <a:xfrm>
            <a:off x="8595359" y="4828539"/>
            <a:ext cx="365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7A8AA0"/>
                </a:solidFill>
              </a:defRPr>
            </a:lvl1pPr>
          </a:lstStyle>
          <a:p>
            <a:pPr/>
            <a:r>
              <a:t>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Shape 0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7" name="Text 1"/>
          <p:cNvSpPr txBox="1"/>
          <p:nvPr/>
        </p:nvSpPr>
        <p:spPr>
          <a:xfrm>
            <a:off x="365760" y="313515"/>
            <a:ext cx="8595360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1A2C5B"/>
                </a:solidFill>
              </a:defRPr>
            </a:lvl1pPr>
          </a:lstStyle>
          <a:p>
            <a:pPr/>
            <a:r>
              <a:t>ПРАКТИЧЕСКАЯ ЗНАЧИМОСТЬ И ПЕРСПЕКТИВЫ</a:t>
            </a:r>
          </a:p>
        </p:txBody>
      </p:sp>
      <p:sp>
        <p:nvSpPr>
          <p:cNvPr id="458" name="Shape 2"/>
          <p:cNvSpPr/>
          <p:nvPr/>
        </p:nvSpPr>
        <p:spPr>
          <a:xfrm>
            <a:off x="320040" y="804672"/>
            <a:ext cx="4114801" cy="347473"/>
          </a:xfrm>
          <a:prstGeom prst="rect">
            <a:avLst/>
          </a:prstGeom>
          <a:solidFill>
            <a:srgbClr val="2E5BBA"/>
          </a:solidFill>
          <a:ln w="12700">
            <a:solidFill>
              <a:srgbClr val="2E5BB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9" name="Text 3"/>
          <p:cNvSpPr txBox="1"/>
          <p:nvPr/>
        </p:nvSpPr>
        <p:spPr>
          <a:xfrm>
            <a:off x="365759" y="813308"/>
            <a:ext cx="402336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✅  </a:t>
            </a:r>
            <a:r>
              <a:t>ЧТО ДАЁТ СИСТЕМА</a:t>
            </a:r>
          </a:p>
        </p:txBody>
      </p:sp>
      <p:sp>
        <p:nvSpPr>
          <p:cNvPr id="460" name="Shape 4"/>
          <p:cNvSpPr/>
          <p:nvPr/>
        </p:nvSpPr>
        <p:spPr>
          <a:xfrm>
            <a:off x="320040" y="1188719"/>
            <a:ext cx="4114801" cy="667513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1" name="Shape 5"/>
          <p:cNvSpPr/>
          <p:nvPr/>
        </p:nvSpPr>
        <p:spPr>
          <a:xfrm>
            <a:off x="320040" y="1188719"/>
            <a:ext cx="54865" cy="667513"/>
          </a:xfrm>
          <a:prstGeom prst="rect">
            <a:avLst/>
          </a:prstGeom>
          <a:solidFill>
            <a:srgbClr val="2E5BBA"/>
          </a:solidFill>
          <a:ln w="12700">
            <a:solidFill>
              <a:srgbClr val="2E5BB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2" name="Text 6"/>
          <p:cNvSpPr txBox="1"/>
          <p:nvPr/>
        </p:nvSpPr>
        <p:spPr>
          <a:xfrm>
            <a:off x="457200" y="1249933"/>
            <a:ext cx="384048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000">
                <a:solidFill>
                  <a:srgbClr val="1A2C5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🎯  </a:t>
            </a:r>
            <a:r>
              <a:t>Точность учёта</a:t>
            </a:r>
          </a:p>
        </p:txBody>
      </p:sp>
      <p:sp>
        <p:nvSpPr>
          <p:cNvPr id="463" name="Text 7"/>
          <p:cNvSpPr txBox="1"/>
          <p:nvPr/>
        </p:nvSpPr>
        <p:spPr>
          <a:xfrm>
            <a:off x="457200" y="1591564"/>
            <a:ext cx="38404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Автоматическое обновление остатков исключает ошибки ручного подсчёта</a:t>
            </a:r>
          </a:p>
        </p:txBody>
      </p:sp>
      <p:sp>
        <p:nvSpPr>
          <p:cNvPr id="464" name="Shape 8"/>
          <p:cNvSpPr/>
          <p:nvPr/>
        </p:nvSpPr>
        <p:spPr>
          <a:xfrm>
            <a:off x="320040" y="1901951"/>
            <a:ext cx="4114801" cy="66751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5" name="Shape 9"/>
          <p:cNvSpPr/>
          <p:nvPr/>
        </p:nvSpPr>
        <p:spPr>
          <a:xfrm>
            <a:off x="320040" y="1901951"/>
            <a:ext cx="54865" cy="667513"/>
          </a:xfrm>
          <a:prstGeom prst="rect">
            <a:avLst/>
          </a:prstGeom>
          <a:solidFill>
            <a:srgbClr val="2E5BBA"/>
          </a:solidFill>
          <a:ln w="12700">
            <a:solidFill>
              <a:srgbClr val="2E5BB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6" name="Text 10"/>
          <p:cNvSpPr txBox="1"/>
          <p:nvPr/>
        </p:nvSpPr>
        <p:spPr>
          <a:xfrm>
            <a:off x="457200" y="1963166"/>
            <a:ext cx="384048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000">
                <a:solidFill>
                  <a:srgbClr val="1A2C5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🔍  </a:t>
            </a:r>
            <a:r>
              <a:t>Прозрачность</a:t>
            </a:r>
          </a:p>
        </p:txBody>
      </p:sp>
      <p:sp>
        <p:nvSpPr>
          <p:cNvPr id="467" name="Text 11"/>
          <p:cNvSpPr txBox="1"/>
          <p:nvPr/>
        </p:nvSpPr>
        <p:spPr>
          <a:xfrm>
            <a:off x="457200" y="2304796"/>
            <a:ext cx="38404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Полный журнал операций с датой, типом и пользователем</a:t>
            </a:r>
          </a:p>
        </p:txBody>
      </p:sp>
      <p:sp>
        <p:nvSpPr>
          <p:cNvPr id="468" name="Shape 12"/>
          <p:cNvSpPr/>
          <p:nvPr/>
        </p:nvSpPr>
        <p:spPr>
          <a:xfrm>
            <a:off x="320040" y="2615183"/>
            <a:ext cx="4114801" cy="667513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9" name="Shape 13"/>
          <p:cNvSpPr/>
          <p:nvPr/>
        </p:nvSpPr>
        <p:spPr>
          <a:xfrm>
            <a:off x="320040" y="2615183"/>
            <a:ext cx="54865" cy="667513"/>
          </a:xfrm>
          <a:prstGeom prst="rect">
            <a:avLst/>
          </a:prstGeom>
          <a:solidFill>
            <a:srgbClr val="2E5BBA"/>
          </a:solidFill>
          <a:ln w="12700">
            <a:solidFill>
              <a:srgbClr val="2E5BB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0" name="Text 14"/>
          <p:cNvSpPr txBox="1"/>
          <p:nvPr/>
        </p:nvSpPr>
        <p:spPr>
          <a:xfrm>
            <a:off x="457200" y="2676398"/>
            <a:ext cx="384048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000">
                <a:solidFill>
                  <a:srgbClr val="1A2C5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⚠️  </a:t>
            </a:r>
            <a:r>
              <a:t>Предупреждения</a:t>
            </a:r>
          </a:p>
        </p:txBody>
      </p:sp>
      <p:sp>
        <p:nvSpPr>
          <p:cNvPr id="471" name="Text 15"/>
          <p:cNvSpPr txBox="1"/>
          <p:nvPr/>
        </p:nvSpPr>
        <p:spPr>
          <a:xfrm>
            <a:off x="457200" y="3018027"/>
            <a:ext cx="38404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Мониторинг товаров ниже минимального остатка в реальном времени</a:t>
            </a:r>
          </a:p>
        </p:txBody>
      </p:sp>
      <p:sp>
        <p:nvSpPr>
          <p:cNvPr id="472" name="Shape 16"/>
          <p:cNvSpPr/>
          <p:nvPr/>
        </p:nvSpPr>
        <p:spPr>
          <a:xfrm>
            <a:off x="320040" y="3328415"/>
            <a:ext cx="4114801" cy="66751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3" name="Shape 17"/>
          <p:cNvSpPr/>
          <p:nvPr/>
        </p:nvSpPr>
        <p:spPr>
          <a:xfrm>
            <a:off x="320040" y="3328415"/>
            <a:ext cx="54865" cy="667513"/>
          </a:xfrm>
          <a:prstGeom prst="rect">
            <a:avLst/>
          </a:prstGeom>
          <a:solidFill>
            <a:srgbClr val="2E5BBA"/>
          </a:solidFill>
          <a:ln w="12700">
            <a:solidFill>
              <a:srgbClr val="2E5BB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4" name="Text 18"/>
          <p:cNvSpPr txBox="1"/>
          <p:nvPr/>
        </p:nvSpPr>
        <p:spPr>
          <a:xfrm>
            <a:off x="457200" y="3389629"/>
            <a:ext cx="384048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000">
                <a:solidFill>
                  <a:srgbClr val="1A2C5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📊  </a:t>
            </a:r>
            <a:r>
              <a:t>Аналитика</a:t>
            </a:r>
          </a:p>
        </p:txBody>
      </p:sp>
      <p:sp>
        <p:nvSpPr>
          <p:cNvPr id="475" name="Text 19"/>
          <p:cNvSpPr txBox="1"/>
          <p:nvPr/>
        </p:nvSpPr>
        <p:spPr>
          <a:xfrm>
            <a:off x="457200" y="3667673"/>
            <a:ext cx="3840480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Сводный отчёт по стоимости и структуре запасов для управленческих решений</a:t>
            </a:r>
          </a:p>
        </p:txBody>
      </p:sp>
      <p:sp>
        <p:nvSpPr>
          <p:cNvPr id="476" name="Shape 20"/>
          <p:cNvSpPr/>
          <p:nvPr/>
        </p:nvSpPr>
        <p:spPr>
          <a:xfrm>
            <a:off x="320040" y="4041647"/>
            <a:ext cx="4114801" cy="667513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7" name="Shape 21"/>
          <p:cNvSpPr/>
          <p:nvPr/>
        </p:nvSpPr>
        <p:spPr>
          <a:xfrm>
            <a:off x="320040" y="4041647"/>
            <a:ext cx="54865" cy="667513"/>
          </a:xfrm>
          <a:prstGeom prst="rect">
            <a:avLst/>
          </a:prstGeom>
          <a:solidFill>
            <a:srgbClr val="2E5BBA"/>
          </a:solidFill>
          <a:ln w="12700">
            <a:solidFill>
              <a:srgbClr val="2E5BB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8" name="Text 22"/>
          <p:cNvSpPr txBox="1"/>
          <p:nvPr/>
        </p:nvSpPr>
        <p:spPr>
          <a:xfrm>
            <a:off x="457200" y="4102861"/>
            <a:ext cx="384048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000">
                <a:solidFill>
                  <a:srgbClr val="1A2C5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🔐  </a:t>
            </a:r>
            <a:r>
              <a:t>Безопасность</a:t>
            </a:r>
          </a:p>
        </p:txBody>
      </p:sp>
      <p:sp>
        <p:nvSpPr>
          <p:cNvPr id="479" name="Text 23"/>
          <p:cNvSpPr txBox="1"/>
          <p:nvPr/>
        </p:nvSpPr>
        <p:spPr>
          <a:xfrm>
            <a:off x="457200" y="4444491"/>
            <a:ext cx="38404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A3A3A"/>
                </a:solidFill>
              </a:defRPr>
            </a:lvl1pPr>
          </a:lstStyle>
          <a:p>
            <a:pPr/>
            <a:r>
              <a:t>Ролевая модель: каждый видит только нужные ему функции</a:t>
            </a:r>
          </a:p>
        </p:txBody>
      </p:sp>
      <p:sp>
        <p:nvSpPr>
          <p:cNvPr id="480" name="Shape 24"/>
          <p:cNvSpPr/>
          <p:nvPr/>
        </p:nvSpPr>
        <p:spPr>
          <a:xfrm>
            <a:off x="4709159" y="804672"/>
            <a:ext cx="4206241" cy="347473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1" name="Text 25"/>
          <p:cNvSpPr txBox="1"/>
          <p:nvPr/>
        </p:nvSpPr>
        <p:spPr>
          <a:xfrm>
            <a:off x="4754879" y="813308"/>
            <a:ext cx="411480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🚀  </a:t>
            </a:r>
            <a:r>
              <a:t>ПЕРСПЕКТИВЫ РАЗВИТИЯ</a:t>
            </a:r>
          </a:p>
        </p:txBody>
      </p:sp>
      <p:sp>
        <p:nvSpPr>
          <p:cNvPr id="482" name="Shape 26"/>
          <p:cNvSpPr/>
          <p:nvPr/>
        </p:nvSpPr>
        <p:spPr>
          <a:xfrm>
            <a:off x="4709159" y="1188719"/>
            <a:ext cx="4206241" cy="576073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3" name="Text 27"/>
          <p:cNvSpPr txBox="1"/>
          <p:nvPr/>
        </p:nvSpPr>
        <p:spPr>
          <a:xfrm>
            <a:off x="4773167" y="1311656"/>
            <a:ext cx="36576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📄</a:t>
            </a:r>
          </a:p>
        </p:txBody>
      </p:sp>
      <p:sp>
        <p:nvSpPr>
          <p:cNvPr id="484" name="Text 28"/>
          <p:cNvSpPr txBox="1"/>
          <p:nvPr/>
        </p:nvSpPr>
        <p:spPr>
          <a:xfrm>
            <a:off x="5166359" y="1408220"/>
            <a:ext cx="3657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A3A3A"/>
                </a:solidFill>
              </a:defRPr>
            </a:lvl1pPr>
          </a:lstStyle>
          <a:p>
            <a:pPr/>
            <a:r>
              <a:t>Экспорт отчётов в PDF и Excel</a:t>
            </a:r>
          </a:p>
        </p:txBody>
      </p:sp>
      <p:sp>
        <p:nvSpPr>
          <p:cNvPr id="485" name="Shape 29"/>
          <p:cNvSpPr/>
          <p:nvPr/>
        </p:nvSpPr>
        <p:spPr>
          <a:xfrm>
            <a:off x="4709159" y="1810511"/>
            <a:ext cx="4206241" cy="57607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6" name="Text 30"/>
          <p:cNvSpPr txBox="1"/>
          <p:nvPr/>
        </p:nvSpPr>
        <p:spPr>
          <a:xfrm>
            <a:off x="4773167" y="1933447"/>
            <a:ext cx="36576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📱</a:t>
            </a:r>
          </a:p>
        </p:txBody>
      </p:sp>
      <p:sp>
        <p:nvSpPr>
          <p:cNvPr id="487" name="Text 31"/>
          <p:cNvSpPr txBox="1"/>
          <p:nvPr/>
        </p:nvSpPr>
        <p:spPr>
          <a:xfrm>
            <a:off x="5166359" y="2030012"/>
            <a:ext cx="3657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A3A3A"/>
                </a:solidFill>
              </a:defRPr>
            </a:lvl1pPr>
          </a:lstStyle>
          <a:p>
            <a:pPr/>
            <a:r>
              <a:t>Веб-интерфейс (Spring Boot + React)</a:t>
            </a:r>
          </a:p>
        </p:txBody>
      </p:sp>
      <p:sp>
        <p:nvSpPr>
          <p:cNvPr id="488" name="Shape 32"/>
          <p:cNvSpPr/>
          <p:nvPr/>
        </p:nvSpPr>
        <p:spPr>
          <a:xfrm>
            <a:off x="4709159" y="2432304"/>
            <a:ext cx="4206241" cy="576073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9" name="Text 33"/>
          <p:cNvSpPr txBox="1"/>
          <p:nvPr/>
        </p:nvSpPr>
        <p:spPr>
          <a:xfrm>
            <a:off x="4773167" y="2555239"/>
            <a:ext cx="36576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📷</a:t>
            </a:r>
          </a:p>
        </p:txBody>
      </p:sp>
      <p:sp>
        <p:nvSpPr>
          <p:cNvPr id="490" name="Text 34"/>
          <p:cNvSpPr txBox="1"/>
          <p:nvPr/>
        </p:nvSpPr>
        <p:spPr>
          <a:xfrm>
            <a:off x="5166359" y="2651804"/>
            <a:ext cx="3657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A3A3A"/>
                </a:solidFill>
              </a:defRPr>
            </a:lvl1pPr>
          </a:lstStyle>
          <a:p>
            <a:pPr/>
            <a:r>
              <a:t>Поддержка штрихкодирования</a:t>
            </a:r>
          </a:p>
        </p:txBody>
      </p:sp>
      <p:sp>
        <p:nvSpPr>
          <p:cNvPr id="491" name="Shape 35"/>
          <p:cNvSpPr/>
          <p:nvPr/>
        </p:nvSpPr>
        <p:spPr>
          <a:xfrm>
            <a:off x="4709159" y="3054095"/>
            <a:ext cx="4206241" cy="57607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2" name="Text 36"/>
          <p:cNvSpPr txBox="1"/>
          <p:nvPr/>
        </p:nvSpPr>
        <p:spPr>
          <a:xfrm>
            <a:off x="4773167" y="3177032"/>
            <a:ext cx="36576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🔔</a:t>
            </a:r>
          </a:p>
        </p:txBody>
      </p:sp>
      <p:sp>
        <p:nvSpPr>
          <p:cNvPr id="493" name="Text 37"/>
          <p:cNvSpPr txBox="1"/>
          <p:nvPr/>
        </p:nvSpPr>
        <p:spPr>
          <a:xfrm>
            <a:off x="5166359" y="3273596"/>
            <a:ext cx="3657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A3A3A"/>
                </a:solidFill>
              </a:defRPr>
            </a:lvl1pPr>
          </a:lstStyle>
          <a:p>
            <a:pPr/>
            <a:r>
              <a:t>Уведомления о критических остатках</a:t>
            </a:r>
          </a:p>
        </p:txBody>
      </p:sp>
      <p:sp>
        <p:nvSpPr>
          <p:cNvPr id="494" name="Shape 38"/>
          <p:cNvSpPr/>
          <p:nvPr/>
        </p:nvSpPr>
        <p:spPr>
          <a:xfrm>
            <a:off x="4709159" y="3675888"/>
            <a:ext cx="4206241" cy="576073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5" name="Text 39"/>
          <p:cNvSpPr txBox="1"/>
          <p:nvPr/>
        </p:nvSpPr>
        <p:spPr>
          <a:xfrm>
            <a:off x="4773167" y="3798824"/>
            <a:ext cx="36576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🔗</a:t>
            </a:r>
          </a:p>
        </p:txBody>
      </p:sp>
      <p:sp>
        <p:nvSpPr>
          <p:cNvPr id="496" name="Text 40"/>
          <p:cNvSpPr txBox="1"/>
          <p:nvPr/>
        </p:nvSpPr>
        <p:spPr>
          <a:xfrm>
            <a:off x="5166359" y="3895388"/>
            <a:ext cx="3657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A3A3A"/>
                </a:solidFill>
              </a:defRPr>
            </a:lvl1pPr>
          </a:lstStyle>
          <a:p>
            <a:pPr/>
            <a:r>
              <a:t>Интеграция с бухгалтерскими системами</a:t>
            </a:r>
          </a:p>
        </p:txBody>
      </p:sp>
      <p:sp>
        <p:nvSpPr>
          <p:cNvPr id="497" name="Shape 41"/>
          <p:cNvSpPr/>
          <p:nvPr/>
        </p:nvSpPr>
        <p:spPr>
          <a:xfrm>
            <a:off x="4709159" y="4297679"/>
            <a:ext cx="4206241" cy="57607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8" name="Text 42"/>
          <p:cNvSpPr txBox="1"/>
          <p:nvPr/>
        </p:nvSpPr>
        <p:spPr>
          <a:xfrm>
            <a:off x="4773167" y="4484116"/>
            <a:ext cx="36576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600"/>
            </a:pPr>
            <a:r>
              <a:t>☁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️</a:t>
            </a:r>
          </a:p>
        </p:txBody>
      </p:sp>
      <p:sp>
        <p:nvSpPr>
          <p:cNvPr id="499" name="Text 43"/>
          <p:cNvSpPr txBox="1"/>
          <p:nvPr/>
        </p:nvSpPr>
        <p:spPr>
          <a:xfrm>
            <a:off x="5166359" y="4517180"/>
            <a:ext cx="3657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A3A3A"/>
                </a:solidFill>
              </a:defRPr>
            </a:lvl1pPr>
          </a:lstStyle>
          <a:p>
            <a:pPr/>
            <a:r>
              <a:t>Облачное развёртывание</a:t>
            </a:r>
          </a:p>
        </p:txBody>
      </p:sp>
      <p:sp>
        <p:nvSpPr>
          <p:cNvPr id="500" name="Shape 44"/>
          <p:cNvSpPr/>
          <p:nvPr/>
        </p:nvSpPr>
        <p:spPr>
          <a:xfrm>
            <a:off x="4709159" y="4663440"/>
            <a:ext cx="4206241" cy="347473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1" name="Text 45"/>
          <p:cNvSpPr txBox="1"/>
          <p:nvPr/>
        </p:nvSpPr>
        <p:spPr>
          <a:xfrm>
            <a:off x="4754879" y="4773676"/>
            <a:ext cx="4114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1A2C5B"/>
                </a:solidFill>
              </a:defRPr>
            </a:lvl1pPr>
          </a:lstStyle>
          <a:p>
            <a:pPr/>
            <a:r>
              <a:t>Стек: Java 21 · JavaFX 21 · MySQL 8 · JDBC · Maven · IntelliJ IDEA</a:t>
            </a:r>
          </a:p>
        </p:txBody>
      </p:sp>
      <p:sp>
        <p:nvSpPr>
          <p:cNvPr id="502" name="Text 46"/>
          <p:cNvSpPr txBox="1"/>
          <p:nvPr/>
        </p:nvSpPr>
        <p:spPr>
          <a:xfrm>
            <a:off x="8595359" y="4828539"/>
            <a:ext cx="365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7A8AA0"/>
                </a:solidFill>
              </a:defRPr>
            </a:lvl1pPr>
          </a:lstStyle>
          <a:p>
            <a:pPr/>
            <a:r>
              <a:t>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2C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E5BBA">
              <a:alpha val="40000"/>
            </a:srgbClr>
          </a:solidFill>
          <a:ln w="12700">
            <a:solidFill>
              <a:srgbClr val="2E5BBA">
                <a:alpha val="4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5" name="Shape 1"/>
          <p:cNvSpPr/>
          <p:nvPr/>
        </p:nvSpPr>
        <p:spPr>
          <a:xfrm>
            <a:off x="7498080" y="0"/>
            <a:ext cx="1645921" cy="5143500"/>
          </a:xfrm>
          <a:prstGeom prst="rect">
            <a:avLst/>
          </a:prstGeom>
          <a:solidFill>
            <a:srgbClr val="4FC3F7">
              <a:alpha val="30000"/>
            </a:srgbClr>
          </a:solidFill>
          <a:ln w="12700">
            <a:solidFill>
              <a:srgbClr val="4FC3F7">
                <a:alpha val="3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506" name="Image 0" descr="Image 0"/>
          <p:cNvPicPr>
            <a:picLocks noChangeAspect="1"/>
          </p:cNvPicPr>
          <p:nvPr/>
        </p:nvPicPr>
        <p:blipFill>
          <a:blip r:embed="rId2">
            <a:alphaModFix amt="85000"/>
            <a:extLst/>
          </a:blip>
          <a:stretch>
            <a:fillRect/>
          </a:stretch>
        </p:blipFill>
        <p:spPr>
          <a:xfrm>
            <a:off x="274320" y="182879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507" name="Image 1" descr="Image 1"/>
          <p:cNvPicPr>
            <a:picLocks noChangeAspect="1"/>
          </p:cNvPicPr>
          <p:nvPr/>
        </p:nvPicPr>
        <p:blipFill>
          <a:blip r:embed="rId3">
            <a:alphaModFix amt="85000"/>
            <a:extLst/>
          </a:blip>
          <a:stretch>
            <a:fillRect/>
          </a:stretch>
        </p:blipFill>
        <p:spPr>
          <a:xfrm>
            <a:off x="274320" y="4206240"/>
            <a:ext cx="777241" cy="685801"/>
          </a:xfrm>
          <a:prstGeom prst="rect">
            <a:avLst/>
          </a:prstGeom>
          <a:ln w="12700">
            <a:miter lim="400000"/>
          </a:ln>
        </p:spPr>
      </p:pic>
      <p:sp>
        <p:nvSpPr>
          <p:cNvPr id="508" name="Text 2"/>
          <p:cNvSpPr txBox="1"/>
          <p:nvPr/>
        </p:nvSpPr>
        <p:spPr>
          <a:xfrm>
            <a:off x="1188719" y="350959"/>
            <a:ext cx="45720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300">
                <a:solidFill>
                  <a:srgbClr val="4FC3F7"/>
                </a:solidFill>
              </a:defRPr>
            </a:lvl1pPr>
          </a:lstStyle>
          <a:p>
            <a:pPr/>
            <a:r>
              <a:t>ВЫВОДЫ</a:t>
            </a:r>
          </a:p>
        </p:txBody>
      </p:sp>
      <p:sp>
        <p:nvSpPr>
          <p:cNvPr id="509" name="Text 3"/>
          <p:cNvSpPr txBox="1"/>
          <p:nvPr/>
        </p:nvSpPr>
        <p:spPr>
          <a:xfrm>
            <a:off x="1188719" y="751254"/>
            <a:ext cx="5029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FFFFFF"/>
                </a:solidFill>
              </a:defRPr>
            </a:lvl1pPr>
          </a:lstStyle>
          <a:p>
            <a:pPr/>
            <a:r>
              <a:t>В ходе выпускной квалификационной работы:</a:t>
            </a:r>
          </a:p>
        </p:txBody>
      </p:sp>
      <p:sp>
        <p:nvSpPr>
          <p:cNvPr id="510" name="Text 4"/>
          <p:cNvSpPr txBox="1"/>
          <p:nvPr/>
        </p:nvSpPr>
        <p:spPr>
          <a:xfrm>
            <a:off x="1188719" y="1161332"/>
            <a:ext cx="5029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buSzPct val="100000"/>
              <a:buChar char="•"/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Проведён анализ предметной области и обзор аналогов</a:t>
            </a:r>
          </a:p>
        </p:txBody>
      </p:sp>
      <p:sp>
        <p:nvSpPr>
          <p:cNvPr id="511" name="Text 5"/>
          <p:cNvSpPr txBox="1"/>
          <p:nvPr/>
        </p:nvSpPr>
        <p:spPr>
          <a:xfrm>
            <a:off x="1188719" y="1600244"/>
            <a:ext cx="5029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buSzPct val="100000"/>
              <a:buChar char="•"/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Спроектирована БД warehouse_system (7 таблиц, FK, транзакции)</a:t>
            </a:r>
          </a:p>
        </p:txBody>
      </p:sp>
      <p:sp>
        <p:nvSpPr>
          <p:cNvPr id="512" name="Text 6"/>
          <p:cNvSpPr txBox="1"/>
          <p:nvPr/>
        </p:nvSpPr>
        <p:spPr>
          <a:xfrm>
            <a:off x="1188719" y="1956606"/>
            <a:ext cx="50292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buSzPct val="100000"/>
              <a:buChar char="•"/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Разработана MVC-архитектура: 8 классов-моделей + класс Database + 12 контроллеров</a:t>
            </a:r>
          </a:p>
        </p:txBody>
      </p:sp>
      <p:sp>
        <p:nvSpPr>
          <p:cNvPr id="513" name="Text 7"/>
          <p:cNvSpPr txBox="1"/>
          <p:nvPr/>
        </p:nvSpPr>
        <p:spPr>
          <a:xfrm>
            <a:off x="1188719" y="2395518"/>
            <a:ext cx="50292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buSzPct val="100000"/>
              <a:buChar char="•"/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Реализованы все модули: товары, поступления, расходы, списание, журнал, отчёт, заказы</a:t>
            </a:r>
          </a:p>
        </p:txBody>
      </p:sp>
      <p:sp>
        <p:nvSpPr>
          <p:cNvPr id="514" name="Text 8"/>
          <p:cNvSpPr txBox="1"/>
          <p:nvPr/>
        </p:nvSpPr>
        <p:spPr>
          <a:xfrm>
            <a:off x="1188719" y="2916980"/>
            <a:ext cx="5029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buSzPct val="100000"/>
              <a:buChar char="•"/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Настроена ролевая модель: admin / operator / client</a:t>
            </a:r>
          </a:p>
        </p:txBody>
      </p:sp>
      <p:sp>
        <p:nvSpPr>
          <p:cNvPr id="515" name="Text 9"/>
          <p:cNvSpPr txBox="1"/>
          <p:nvPr/>
        </p:nvSpPr>
        <p:spPr>
          <a:xfrm>
            <a:off x="1188719" y="3355892"/>
            <a:ext cx="5029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marL="342900" indent="-342900">
              <a:buSzPct val="100000"/>
              <a:buChar char="•"/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Проведено тестирование — 10 из 10 сценариев пройдены успешно</a:t>
            </a:r>
          </a:p>
        </p:txBody>
      </p:sp>
      <p:sp>
        <p:nvSpPr>
          <p:cNvPr id="516" name="Shape 10"/>
          <p:cNvSpPr/>
          <p:nvPr/>
        </p:nvSpPr>
        <p:spPr>
          <a:xfrm>
            <a:off x="1188719" y="3703320"/>
            <a:ext cx="5029201" cy="1188721"/>
          </a:xfrm>
          <a:prstGeom prst="rect">
            <a:avLst/>
          </a:prstGeom>
          <a:solidFill>
            <a:srgbClr val="2E5BBA">
              <a:alpha val="70000"/>
            </a:srgbClr>
          </a:solidFill>
          <a:ln w="12700">
            <a:solidFill>
              <a:srgbClr val="4FC3F7">
                <a:alpha val="5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7" name="Text 11"/>
          <p:cNvSpPr txBox="1"/>
          <p:nvPr/>
        </p:nvSpPr>
        <p:spPr>
          <a:xfrm>
            <a:off x="1280160" y="3827343"/>
            <a:ext cx="484632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4FC3F7"/>
                </a:solidFill>
              </a:defRPr>
            </a:lvl1pPr>
          </a:lstStyle>
          <a:p>
            <a:pPr/>
            <a:r>
              <a:t>ЦЕЛЬ ДОСТИГНУТА</a:t>
            </a:r>
          </a:p>
        </p:txBody>
      </p:sp>
      <p:sp>
        <p:nvSpPr>
          <p:cNvPr id="518" name="Text 12"/>
          <p:cNvSpPr txBox="1"/>
          <p:nvPr/>
        </p:nvSpPr>
        <p:spPr>
          <a:xfrm>
            <a:off x="1280160" y="4324902"/>
            <a:ext cx="484632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Разработана информационная система складского учёта, обеспечивающая автоматизацию складских процессов и готовая к практическому применению</a:t>
            </a:r>
          </a:p>
        </p:txBody>
      </p:sp>
      <p:sp>
        <p:nvSpPr>
          <p:cNvPr id="519" name="Text 13"/>
          <p:cNvSpPr txBox="1"/>
          <p:nvPr/>
        </p:nvSpPr>
        <p:spPr>
          <a:xfrm>
            <a:off x="8595359" y="4828539"/>
            <a:ext cx="365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7A8AA0"/>
                </a:solidFill>
              </a:defRPr>
            </a:lvl1pPr>
          </a:lstStyle>
          <a:p>
            <a:pPr/>
            <a:r>
              <a:t>12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