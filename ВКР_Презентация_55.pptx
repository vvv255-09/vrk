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Текст заголовка</a:t>
            </a:r>
          </a:p>
        </p:txBody>
      </p:sp>
      <p:sp>
        <p:nvSpPr>
          <p:cNvPr id="3" name="Уровень текста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 rot="16200000">
            <a:off x="4252460" y="251698"/>
            <a:ext cx="5152645" cy="4640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2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879" y="182879"/>
            <a:ext cx="1005841" cy="10058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95394" y="182879"/>
            <a:ext cx="1188721" cy="100584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Text 1"/>
          <p:cNvSpPr txBox="1"/>
          <p:nvPr/>
        </p:nvSpPr>
        <p:spPr>
          <a:xfrm>
            <a:off x="1371599" y="652824"/>
            <a:ext cx="5303522" cy="797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100"/>
            </a:pPr>
            <a:r>
              <a:t>МИНИСТЕРСТВО НАУКИ ВЫСШЕГО ОБРАЗОВАНИЯ И ИННОВАЦИЙ КЫРГЫЗСКОЙ РЕСПУБЛИКИ</a:t>
            </a:r>
          </a:p>
          <a:p>
            <a:pPr algn="ctr">
              <a:defRPr b="1" sz="1100"/>
            </a:pPr>
            <a:r>
              <a:rPr sz="1000"/>
              <a:t>Кыргызский государственный технический университет им. И. Раззакова</a:t>
            </a:r>
            <a:endParaRPr sz="1000"/>
          </a:p>
          <a:p>
            <a:pPr algn="ctr">
              <a:defRPr b="1" sz="1100"/>
            </a:pPr>
            <a:r>
              <a:rPr sz="1000"/>
              <a:t>Институт информационных технологий</a:t>
            </a:r>
            <a:endParaRPr sz="1000"/>
          </a:p>
          <a:p>
            <a:pPr algn="ctr">
              <a:defRPr b="1" sz="1100"/>
            </a:pPr>
            <a:r>
              <a:rPr sz="1000"/>
              <a:t>Кафедра «Прикладная математика и информатика»</a:t>
            </a:r>
          </a:p>
        </p:txBody>
      </p:sp>
      <p:sp>
        <p:nvSpPr>
          <p:cNvPr id="24" name="Text 2"/>
          <p:cNvSpPr txBox="1"/>
          <p:nvPr/>
        </p:nvSpPr>
        <p:spPr>
          <a:xfrm>
            <a:off x="1371600" y="2184576"/>
            <a:ext cx="5486400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/>
            </a:lvl1pPr>
          </a:lstStyle>
          <a:p>
            <a:pPr/>
            <a:r>
              <a:t>Тема выпускной квалификационной работы :</a:t>
            </a:r>
          </a:p>
        </p:txBody>
      </p:sp>
      <p:sp>
        <p:nvSpPr>
          <p:cNvPr id="25" name="Text 3"/>
          <p:cNvSpPr txBox="1"/>
          <p:nvPr/>
        </p:nvSpPr>
        <p:spPr>
          <a:xfrm>
            <a:off x="1371600" y="2564766"/>
            <a:ext cx="5486401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/>
            </a:lvl1pPr>
          </a:lstStyle>
          <a:p>
            <a:pPr/>
            <a:r>
              <a:t>РАЗРАБОТКА ИНФОРМАЦИОННОЙ СИСТЕМЫ СКЛАДСКОГО УЧЁТА И АНАЛИЗА ТОВАРНЫХ ЗАПАСОВ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5760720" y="4097196"/>
            <a:ext cx="3200401" cy="629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Выполнил: Студент гр. ПМИ 1-22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b="1"/>
              <a:t>Омуршаев С.А</a:t>
            </a:r>
            <a:endParaRPr b="1"/>
          </a:p>
          <a:p>
            <a:pPr>
              <a:defRPr sz="1100">
                <a:solidFill>
                  <a:srgbClr val="FFFFFF"/>
                </a:solidFill>
              </a:defRPr>
            </a:pPr>
            <a:r>
              <a:t>Руководитель: ст. преп. каф. «ПМИ»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b="1"/>
              <a:t>Кыштобаева Г.К.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-1" y="0"/>
            <a:ext cx="502921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Text 1"/>
          <p:cNvSpPr txBox="1"/>
          <p:nvPr/>
        </p:nvSpPr>
        <p:spPr>
          <a:xfrm>
            <a:off x="678594" y="707693"/>
            <a:ext cx="8321041" cy="3480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</a:pPr>
            <a:r>
              <a:t>Актуальность темы обусловлена тем, что:</a:t>
            </a:r>
          </a:p>
          <a:p>
            <a:pPr>
              <a:spcBef>
                <a:spcPts val="600"/>
              </a:spcBef>
            </a:pPr>
            <a:r>
              <a:t>многие организации ведут складской учёт вручную или в Excel — это приводит к ошибкам</a:t>
            </a:r>
          </a:p>
          <a:p>
            <a:pPr>
              <a:spcBef>
                <a:spcPts val="600"/>
              </a:spcBef>
            </a:pPr>
            <a:r>
              <a:t>отсутствует контроль за остатками товаров в реальном времени</a:t>
            </a:r>
          </a:p>
          <a:p>
            <a:pPr>
              <a:spcBef>
                <a:spcPts val="600"/>
              </a:spcBef>
            </a:pPr>
            <a:r>
              <a:t>нет разграничения доступа — все сотрудники видят и меняют одни данные</a:t>
            </a:r>
          </a:p>
          <a:p>
            <a:pPr>
              <a:spcBef>
                <a:spcPts val="600"/>
              </a:spcBef>
            </a:pPr>
            <a:r>
              <a:t>нет аналитики и оценки структуры товарных запасов</a:t>
            </a:r>
          </a:p>
          <a:p>
            <a:pPr>
              <a:spcBef>
                <a:spcPts val="600"/>
              </a:spcBef>
            </a:pPr>
            <a:r>
              <a:t>Поэтому разработка информационной системы позволяет:</a:t>
            </a:r>
          </a:p>
          <a:p>
            <a:pPr>
              <a:spcBef>
                <a:spcPts val="600"/>
              </a:spcBef>
            </a:pPr>
            <a:r>
              <a:t>     автоматизировать учёт поступлений и расходов</a:t>
            </a:r>
          </a:p>
          <a:p>
            <a:pPr>
              <a:spcBef>
                <a:spcPts val="600"/>
              </a:spcBef>
            </a:pPr>
            <a:r>
              <a:t>     исключить ошибки ручного подсчёта остатков</a:t>
            </a:r>
          </a:p>
          <a:p>
            <a:pPr>
              <a:spcBef>
                <a:spcPts val="600"/>
              </a:spcBef>
            </a:pPr>
            <a:r>
              <a:t>     обеспечить контроль и аналитику по запасам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-1" y="0"/>
            <a:ext cx="502921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"/>
          <p:cNvSpPr txBox="1"/>
          <p:nvPr/>
        </p:nvSpPr>
        <p:spPr>
          <a:xfrm>
            <a:off x="685800" y="268821"/>
            <a:ext cx="822960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ЦЕЛЬ РАБОТЫ:</a:t>
            </a:r>
          </a:p>
        </p:txBody>
      </p:sp>
      <p:sp>
        <p:nvSpPr>
          <p:cNvPr id="33" name="Text 2"/>
          <p:cNvSpPr txBox="1"/>
          <p:nvPr/>
        </p:nvSpPr>
        <p:spPr>
          <a:xfrm>
            <a:off x="685800" y="747969"/>
            <a:ext cx="6400800" cy="643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/>
            </a:lvl1pPr>
          </a:lstStyle>
          <a:p>
            <a:pPr/>
            <a:r>
              <a:t>Разработка информационной системы складского учёта и анализа товарных запасов на основе Java 21 и JavaFX, обеспечивающей автоматизацию ключевых складских процессов.</a:t>
            </a:r>
          </a:p>
        </p:txBody>
      </p:sp>
      <p:sp>
        <p:nvSpPr>
          <p:cNvPr id="34" name="Text 3"/>
          <p:cNvSpPr txBox="1"/>
          <p:nvPr/>
        </p:nvSpPr>
        <p:spPr>
          <a:xfrm>
            <a:off x="685800" y="1654137"/>
            <a:ext cx="8229600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/>
            </a:lvl1pPr>
          </a:lstStyle>
          <a:p>
            <a:pPr/>
            <a:r>
              <a:t>ЗАДАЧИ РАБОТЫ: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685800" y="2154744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Провести анализ предметной области и обзор существующих решений</a:t>
            </a:r>
          </a:p>
        </p:txBody>
      </p:sp>
      <p:sp>
        <p:nvSpPr>
          <p:cNvPr id="36" name="Text 5"/>
          <p:cNvSpPr txBox="1"/>
          <p:nvPr/>
        </p:nvSpPr>
        <p:spPr>
          <a:xfrm>
            <a:off x="685800" y="2630232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Спроектировать структуру базы данных warehouse_system</a:t>
            </a:r>
          </a:p>
        </p:txBody>
      </p:sp>
      <p:sp>
        <p:nvSpPr>
          <p:cNvPr id="37" name="Text 6"/>
          <p:cNvSpPr txBox="1"/>
          <p:nvPr/>
        </p:nvSpPr>
        <p:spPr>
          <a:xfrm>
            <a:off x="685800" y="3105720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Разработать архитектуру приложения (MVC, JavaFX, JDBC)</a:t>
            </a:r>
          </a:p>
        </p:txBody>
      </p:sp>
      <p:sp>
        <p:nvSpPr>
          <p:cNvPr id="38" name="Text 7"/>
          <p:cNvSpPr txBox="1"/>
          <p:nvPr/>
        </p:nvSpPr>
        <p:spPr>
          <a:xfrm>
            <a:off x="685800" y="3581208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Реализовать функциональные модули системы</a:t>
            </a:r>
          </a:p>
        </p:txBody>
      </p:sp>
      <p:sp>
        <p:nvSpPr>
          <p:cNvPr id="39" name="Text 8"/>
          <p:cNvSpPr txBox="1"/>
          <p:nvPr/>
        </p:nvSpPr>
        <p:spPr>
          <a:xfrm>
            <a:off x="685800" y="4056696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Организовать ролевую модель доступа (admin / operator / client)</a:t>
            </a:r>
          </a:p>
        </p:txBody>
      </p:sp>
      <p:sp>
        <p:nvSpPr>
          <p:cNvPr id="40" name="Text 9"/>
          <p:cNvSpPr txBox="1"/>
          <p:nvPr/>
        </p:nvSpPr>
        <p:spPr>
          <a:xfrm>
            <a:off x="685800" y="4532184"/>
            <a:ext cx="6858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     Провести тестирование системы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-1" y="0"/>
            <a:ext cx="4389122" cy="514350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"/>
          <p:cNvSpPr txBox="1"/>
          <p:nvPr/>
        </p:nvSpPr>
        <p:spPr>
          <a:xfrm>
            <a:off x="274320" y="543912"/>
            <a:ext cx="3840480" cy="64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>
                <a:solidFill>
                  <a:srgbClr val="FFFFFF"/>
                </a:solidFill>
              </a:defRPr>
            </a:pPr>
            <a:r>
              <a:t>ОБЪЕКТ</a:t>
            </a:r>
          </a:p>
          <a:p>
            <a:pPr>
              <a:defRPr b="1" sz="2200">
                <a:solidFill>
                  <a:srgbClr val="FFFFFF"/>
                </a:solidFill>
              </a:defRPr>
            </a:pPr>
            <a:r>
              <a:t>ИССЛЕДОВАНИЯ</a:t>
            </a:r>
          </a:p>
        </p:txBody>
      </p:sp>
      <p:sp>
        <p:nvSpPr>
          <p:cNvPr id="44" name="Text 2"/>
          <p:cNvSpPr txBox="1"/>
          <p:nvPr/>
        </p:nvSpPr>
        <p:spPr>
          <a:xfrm>
            <a:off x="274320" y="1855296"/>
            <a:ext cx="3840480" cy="1410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Процессы складского учёта и управления товарными запасами в организациях, включая регистрацию поступлений, расходов и контроль остатков.</a:t>
            </a:r>
          </a:p>
        </p:txBody>
      </p:sp>
      <p:sp>
        <p:nvSpPr>
          <p:cNvPr id="45" name="Text 3"/>
          <p:cNvSpPr txBox="1"/>
          <p:nvPr/>
        </p:nvSpPr>
        <p:spPr>
          <a:xfrm>
            <a:off x="4663440" y="543912"/>
            <a:ext cx="4206241" cy="649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2200"/>
            </a:pPr>
            <a:r>
              <a:t>ПРЕДМЕТ</a:t>
            </a:r>
          </a:p>
          <a:p>
            <a:pPr>
              <a:defRPr b="1" sz="2200"/>
            </a:pPr>
            <a:r>
              <a:t>ИССЛЕДОВАНИЯ:</a:t>
            </a:r>
          </a:p>
        </p:txBody>
      </p:sp>
      <p:sp>
        <p:nvSpPr>
          <p:cNvPr id="46" name="Text 4"/>
          <p:cNvSpPr txBox="1"/>
          <p:nvPr/>
        </p:nvSpPr>
        <p:spPr>
          <a:xfrm>
            <a:off x="4663440" y="2001346"/>
            <a:ext cx="4206241" cy="11179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/>
            <a:r>
              <a:t>Методы и инструменты автоматизации складского учёта с использованием информационных систем на основе Java 21, JavaFX и MySQL.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СТРУКТУРА БАЗЫ ДАННЫХ</a:t>
            </a:r>
          </a:p>
        </p:txBody>
      </p:sp>
      <p:sp>
        <p:nvSpPr>
          <p:cNvPr id="50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СУБД MySQL 8  |  База данных: warehouse_system  |  7 таблиц</a:t>
            </a:r>
          </a:p>
        </p:txBody>
      </p:sp>
      <p:sp>
        <p:nvSpPr>
          <p:cNvPr id="51" name="Shape 3"/>
          <p:cNvSpPr/>
          <p:nvPr/>
        </p:nvSpPr>
        <p:spPr>
          <a:xfrm>
            <a:off x="182880" y="1508760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4"/>
          <p:cNvSpPr txBox="1"/>
          <p:nvPr/>
        </p:nvSpPr>
        <p:spPr>
          <a:xfrm>
            <a:off x="228600" y="1633650"/>
            <a:ext cx="2743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products</a:t>
            </a:r>
          </a:p>
        </p:txBody>
      </p:sp>
      <p:sp>
        <p:nvSpPr>
          <p:cNvPr id="53" name="Shape 5"/>
          <p:cNvSpPr/>
          <p:nvPr/>
        </p:nvSpPr>
        <p:spPr>
          <a:xfrm>
            <a:off x="182880" y="1892807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6"/>
          <p:cNvSpPr txBox="1"/>
          <p:nvPr/>
        </p:nvSpPr>
        <p:spPr>
          <a:xfrm>
            <a:off x="256032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name, category</a:t>
            </a:r>
          </a:p>
          <a:p>
            <a:pPr>
              <a:defRPr sz="900"/>
            </a:pPr>
            <a:r>
              <a:t>unit, quantity, min_quantity, price</a:t>
            </a:r>
          </a:p>
        </p:txBody>
      </p:sp>
      <p:sp>
        <p:nvSpPr>
          <p:cNvPr id="55" name="Shape 7"/>
          <p:cNvSpPr/>
          <p:nvPr/>
        </p:nvSpPr>
        <p:spPr>
          <a:xfrm>
            <a:off x="3172967" y="1508760"/>
            <a:ext cx="2834641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8"/>
          <p:cNvSpPr txBox="1"/>
          <p:nvPr/>
        </p:nvSpPr>
        <p:spPr>
          <a:xfrm>
            <a:off x="3218688" y="1633650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57" name="Shape 9"/>
          <p:cNvSpPr/>
          <p:nvPr/>
        </p:nvSpPr>
        <p:spPr>
          <a:xfrm>
            <a:off x="3172967" y="1892807"/>
            <a:ext cx="2834641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10"/>
          <p:cNvSpPr txBox="1"/>
          <p:nvPr/>
        </p:nvSpPr>
        <p:spPr>
          <a:xfrm>
            <a:off x="3246120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full_name</a:t>
            </a:r>
          </a:p>
          <a:p>
            <a:pPr>
              <a:defRPr sz="900"/>
            </a:pPr>
            <a:r>
              <a:t>login, password, role</a:t>
            </a:r>
          </a:p>
        </p:txBody>
      </p:sp>
      <p:sp>
        <p:nvSpPr>
          <p:cNvPr id="59" name="Shape 11"/>
          <p:cNvSpPr/>
          <p:nvPr/>
        </p:nvSpPr>
        <p:spPr>
          <a:xfrm>
            <a:off x="6163056" y="1508760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" name="Text 12"/>
          <p:cNvSpPr txBox="1"/>
          <p:nvPr/>
        </p:nvSpPr>
        <p:spPr>
          <a:xfrm>
            <a:off x="6208776" y="1633650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suppliers</a:t>
            </a:r>
          </a:p>
        </p:txBody>
      </p:sp>
      <p:sp>
        <p:nvSpPr>
          <p:cNvPr id="61" name="Shape 13"/>
          <p:cNvSpPr/>
          <p:nvPr/>
        </p:nvSpPr>
        <p:spPr>
          <a:xfrm>
            <a:off x="6163056" y="1892807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4"/>
          <p:cNvSpPr txBox="1"/>
          <p:nvPr/>
        </p:nvSpPr>
        <p:spPr>
          <a:xfrm>
            <a:off x="6236208" y="2168057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name</a:t>
            </a:r>
          </a:p>
          <a:p>
            <a:pPr>
              <a:defRPr sz="900"/>
            </a:pPr>
            <a:r>
              <a:t>phone, address</a:t>
            </a:r>
          </a:p>
        </p:txBody>
      </p:sp>
      <p:sp>
        <p:nvSpPr>
          <p:cNvPr id="63" name="Text 15"/>
          <p:cNvSpPr txBox="1"/>
          <p:nvPr/>
        </p:nvSpPr>
        <p:spPr>
          <a:xfrm>
            <a:off x="182879" y="2853436"/>
            <a:ext cx="8778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4A6FA5"/>
                </a:solidFill>
              </a:defRPr>
            </a:lvl1pPr>
          </a:lstStyle>
          <a:p>
            <a:pPr/>
            <a:r>
              <a:t>FK: product_id →        FK: product_id →        FK: user_id →</a:t>
            </a:r>
          </a:p>
        </p:txBody>
      </p:sp>
      <p:sp>
        <p:nvSpPr>
          <p:cNvPr id="64" name="Shape 16"/>
          <p:cNvSpPr/>
          <p:nvPr/>
        </p:nvSpPr>
        <p:spPr>
          <a:xfrm>
            <a:off x="182880" y="3090672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" name="Text 17"/>
          <p:cNvSpPr txBox="1"/>
          <p:nvPr/>
        </p:nvSpPr>
        <p:spPr>
          <a:xfrm>
            <a:off x="228600" y="3215562"/>
            <a:ext cx="27432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receipts</a:t>
            </a:r>
          </a:p>
        </p:txBody>
      </p:sp>
      <p:sp>
        <p:nvSpPr>
          <p:cNvPr id="66" name="Shape 18"/>
          <p:cNvSpPr/>
          <p:nvPr/>
        </p:nvSpPr>
        <p:spPr>
          <a:xfrm>
            <a:off x="182880" y="3474720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9"/>
          <p:cNvSpPr txBox="1"/>
          <p:nvPr/>
        </p:nvSpPr>
        <p:spPr>
          <a:xfrm>
            <a:off x="256032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product_id, supplier_id</a:t>
            </a:r>
          </a:p>
          <a:p>
            <a:pPr>
              <a:defRPr sz="900"/>
            </a:pPr>
            <a:r>
              <a:t>quantity, receipt_date</a:t>
            </a:r>
          </a:p>
        </p:txBody>
      </p:sp>
      <p:sp>
        <p:nvSpPr>
          <p:cNvPr id="68" name="Shape 20"/>
          <p:cNvSpPr/>
          <p:nvPr/>
        </p:nvSpPr>
        <p:spPr>
          <a:xfrm>
            <a:off x="3172967" y="3090672"/>
            <a:ext cx="2834641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Text 21"/>
          <p:cNvSpPr txBox="1"/>
          <p:nvPr/>
        </p:nvSpPr>
        <p:spPr>
          <a:xfrm>
            <a:off x="3218688" y="3215562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expenses</a:t>
            </a:r>
          </a:p>
        </p:txBody>
      </p:sp>
      <p:sp>
        <p:nvSpPr>
          <p:cNvPr id="70" name="Shape 22"/>
          <p:cNvSpPr/>
          <p:nvPr/>
        </p:nvSpPr>
        <p:spPr>
          <a:xfrm>
            <a:off x="3172967" y="3474720"/>
            <a:ext cx="2834641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23"/>
          <p:cNvSpPr txBox="1"/>
          <p:nvPr/>
        </p:nvSpPr>
        <p:spPr>
          <a:xfrm>
            <a:off x="3246120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product_id</a:t>
            </a:r>
          </a:p>
          <a:p>
            <a:pPr>
              <a:defRPr sz="900"/>
            </a:pPr>
            <a:r>
              <a:t>quantity, expense_date, reason</a:t>
            </a:r>
          </a:p>
        </p:txBody>
      </p:sp>
      <p:sp>
        <p:nvSpPr>
          <p:cNvPr id="72" name="Shape 24"/>
          <p:cNvSpPr/>
          <p:nvPr/>
        </p:nvSpPr>
        <p:spPr>
          <a:xfrm>
            <a:off x="6163056" y="3090672"/>
            <a:ext cx="2834640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5"/>
          <p:cNvSpPr txBox="1"/>
          <p:nvPr/>
        </p:nvSpPr>
        <p:spPr>
          <a:xfrm>
            <a:off x="6208776" y="3215562"/>
            <a:ext cx="27432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orders</a:t>
            </a:r>
          </a:p>
        </p:txBody>
      </p:sp>
      <p:sp>
        <p:nvSpPr>
          <p:cNvPr id="74" name="Shape 26"/>
          <p:cNvSpPr/>
          <p:nvPr/>
        </p:nvSpPr>
        <p:spPr>
          <a:xfrm>
            <a:off x="6163056" y="3474720"/>
            <a:ext cx="2834640" cy="804673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7"/>
          <p:cNvSpPr txBox="1"/>
          <p:nvPr/>
        </p:nvSpPr>
        <p:spPr>
          <a:xfrm>
            <a:off x="6236208" y="374996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user_id</a:t>
            </a:r>
          </a:p>
          <a:p>
            <a:pPr>
              <a:defRPr sz="900"/>
            </a:pPr>
            <a:r>
              <a:t>status, total_price, order_date</a:t>
            </a:r>
          </a:p>
        </p:txBody>
      </p:sp>
      <p:sp>
        <p:nvSpPr>
          <p:cNvPr id="76" name="Shape 28"/>
          <p:cNvSpPr/>
          <p:nvPr/>
        </p:nvSpPr>
        <p:spPr>
          <a:xfrm>
            <a:off x="3154679" y="4325111"/>
            <a:ext cx="2834641" cy="32004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Text 29"/>
          <p:cNvSpPr txBox="1"/>
          <p:nvPr/>
        </p:nvSpPr>
        <p:spPr>
          <a:xfrm>
            <a:off x="3200400" y="4416596"/>
            <a:ext cx="27432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order_items</a:t>
            </a:r>
          </a:p>
        </p:txBody>
      </p:sp>
      <p:sp>
        <p:nvSpPr>
          <p:cNvPr id="78" name="Shape 30"/>
          <p:cNvSpPr/>
          <p:nvPr/>
        </p:nvSpPr>
        <p:spPr>
          <a:xfrm>
            <a:off x="3154679" y="4645152"/>
            <a:ext cx="2834641" cy="384049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31"/>
          <p:cNvSpPr txBox="1"/>
          <p:nvPr/>
        </p:nvSpPr>
        <p:spPr>
          <a:xfrm>
            <a:off x="3227832" y="4710089"/>
            <a:ext cx="2688336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900"/>
            </a:pPr>
            <a:r>
              <a:t>id, order_id, product_id</a:t>
            </a:r>
          </a:p>
          <a:p>
            <a:pPr>
              <a:defRPr sz="900"/>
            </a:pPr>
            <a:r>
              <a:t>quantity, price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АРХИТЕКТУРА ПРИЛОЖЕНИЯ (MVC)</a:t>
            </a:r>
          </a:p>
        </p:txBody>
      </p:sp>
      <p:sp>
        <p:nvSpPr>
          <p:cNvPr id="83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Паттерн Model–View–Controller</a:t>
            </a:r>
          </a:p>
        </p:txBody>
      </p:sp>
      <p:sp>
        <p:nvSpPr>
          <p:cNvPr id="84" name="Shape 3"/>
          <p:cNvSpPr/>
          <p:nvPr/>
        </p:nvSpPr>
        <p:spPr>
          <a:xfrm>
            <a:off x="182880" y="1508760"/>
            <a:ext cx="2834640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4"/>
          <p:cNvSpPr txBox="1"/>
          <p:nvPr/>
        </p:nvSpPr>
        <p:spPr>
          <a:xfrm>
            <a:off x="228600" y="1631119"/>
            <a:ext cx="274320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MODEL</a:t>
            </a:r>
          </a:p>
        </p:txBody>
      </p:sp>
      <p:sp>
        <p:nvSpPr>
          <p:cNvPr id="86" name="Shape 5"/>
          <p:cNvSpPr/>
          <p:nvPr/>
        </p:nvSpPr>
        <p:spPr>
          <a:xfrm>
            <a:off x="182880" y="1938527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6"/>
          <p:cNvSpPr txBox="1"/>
          <p:nvPr/>
        </p:nvSpPr>
        <p:spPr>
          <a:xfrm>
            <a:off x="274319" y="2080304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Product</a:t>
            </a:r>
          </a:p>
        </p:txBody>
      </p:sp>
      <p:sp>
        <p:nvSpPr>
          <p:cNvPr id="88" name="Shape 7"/>
          <p:cNvSpPr/>
          <p:nvPr/>
        </p:nvSpPr>
        <p:spPr>
          <a:xfrm>
            <a:off x="182880" y="2377439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8"/>
          <p:cNvSpPr txBox="1"/>
          <p:nvPr/>
        </p:nvSpPr>
        <p:spPr>
          <a:xfrm>
            <a:off x="274319" y="2519216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User</a:t>
            </a:r>
          </a:p>
        </p:txBody>
      </p:sp>
      <p:sp>
        <p:nvSpPr>
          <p:cNvPr id="90" name="Shape 9"/>
          <p:cNvSpPr/>
          <p:nvPr/>
        </p:nvSpPr>
        <p:spPr>
          <a:xfrm>
            <a:off x="182880" y="2816351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10"/>
          <p:cNvSpPr txBox="1"/>
          <p:nvPr/>
        </p:nvSpPr>
        <p:spPr>
          <a:xfrm>
            <a:off x="274319" y="2958128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Supplier</a:t>
            </a:r>
          </a:p>
        </p:txBody>
      </p:sp>
      <p:sp>
        <p:nvSpPr>
          <p:cNvPr id="92" name="Shape 11"/>
          <p:cNvSpPr/>
          <p:nvPr/>
        </p:nvSpPr>
        <p:spPr>
          <a:xfrm>
            <a:off x="182880" y="3255264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Text 12"/>
          <p:cNvSpPr txBox="1"/>
          <p:nvPr/>
        </p:nvSpPr>
        <p:spPr>
          <a:xfrm>
            <a:off x="274319" y="3397040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</a:t>
            </a:r>
          </a:p>
        </p:txBody>
      </p:sp>
      <p:sp>
        <p:nvSpPr>
          <p:cNvPr id="94" name="Shape 13"/>
          <p:cNvSpPr/>
          <p:nvPr/>
        </p:nvSpPr>
        <p:spPr>
          <a:xfrm>
            <a:off x="182880" y="3694176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14"/>
          <p:cNvSpPr txBox="1"/>
          <p:nvPr/>
        </p:nvSpPr>
        <p:spPr>
          <a:xfrm>
            <a:off x="274319" y="3835952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Expense</a:t>
            </a:r>
          </a:p>
        </p:txBody>
      </p:sp>
      <p:sp>
        <p:nvSpPr>
          <p:cNvPr id="96" name="Shape 15"/>
          <p:cNvSpPr/>
          <p:nvPr/>
        </p:nvSpPr>
        <p:spPr>
          <a:xfrm>
            <a:off x="182880" y="4133088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6"/>
          <p:cNvSpPr txBox="1"/>
          <p:nvPr/>
        </p:nvSpPr>
        <p:spPr>
          <a:xfrm>
            <a:off x="274319" y="4274864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Order / OrderItem</a:t>
            </a:r>
          </a:p>
        </p:txBody>
      </p:sp>
      <p:sp>
        <p:nvSpPr>
          <p:cNvPr id="98" name="Shape 17"/>
          <p:cNvSpPr/>
          <p:nvPr/>
        </p:nvSpPr>
        <p:spPr>
          <a:xfrm>
            <a:off x="182880" y="4572000"/>
            <a:ext cx="2834640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18"/>
          <p:cNvSpPr txBox="1"/>
          <p:nvPr/>
        </p:nvSpPr>
        <p:spPr>
          <a:xfrm>
            <a:off x="274319" y="4713776"/>
            <a:ext cx="265176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Database (JDBC)</a:t>
            </a:r>
          </a:p>
        </p:txBody>
      </p:sp>
      <p:sp>
        <p:nvSpPr>
          <p:cNvPr id="100" name="Shape 19"/>
          <p:cNvSpPr/>
          <p:nvPr/>
        </p:nvSpPr>
        <p:spPr>
          <a:xfrm>
            <a:off x="3172967" y="1508760"/>
            <a:ext cx="2834641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20"/>
          <p:cNvSpPr txBox="1"/>
          <p:nvPr/>
        </p:nvSpPr>
        <p:spPr>
          <a:xfrm>
            <a:off x="3218688" y="163111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VIEW</a:t>
            </a:r>
          </a:p>
        </p:txBody>
      </p:sp>
      <p:sp>
        <p:nvSpPr>
          <p:cNvPr id="102" name="Shape 21"/>
          <p:cNvSpPr/>
          <p:nvPr/>
        </p:nvSpPr>
        <p:spPr>
          <a:xfrm>
            <a:off x="3172967" y="1938527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22"/>
          <p:cNvSpPr txBox="1"/>
          <p:nvPr/>
        </p:nvSpPr>
        <p:spPr>
          <a:xfrm>
            <a:off x="3264408" y="208030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login.fxml</a:t>
            </a:r>
          </a:p>
        </p:txBody>
      </p:sp>
      <p:sp>
        <p:nvSpPr>
          <p:cNvPr id="104" name="Shape 23"/>
          <p:cNvSpPr/>
          <p:nvPr/>
        </p:nvSpPr>
        <p:spPr>
          <a:xfrm>
            <a:off x="3172967" y="2377439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4"/>
          <p:cNvSpPr txBox="1"/>
          <p:nvPr/>
        </p:nvSpPr>
        <p:spPr>
          <a:xfrm>
            <a:off x="3264408" y="251921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main.fxml</a:t>
            </a:r>
          </a:p>
        </p:txBody>
      </p:sp>
      <p:sp>
        <p:nvSpPr>
          <p:cNvPr id="106" name="Shape 25"/>
          <p:cNvSpPr/>
          <p:nvPr/>
        </p:nvSpPr>
        <p:spPr>
          <a:xfrm>
            <a:off x="3172967" y="2816351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26"/>
          <p:cNvSpPr txBox="1"/>
          <p:nvPr/>
        </p:nvSpPr>
        <p:spPr>
          <a:xfrm>
            <a:off x="3264408" y="295812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main_products.fxml</a:t>
            </a:r>
          </a:p>
        </p:txBody>
      </p:sp>
      <p:sp>
        <p:nvSpPr>
          <p:cNvPr id="108" name="Shape 27"/>
          <p:cNvSpPr/>
          <p:nvPr/>
        </p:nvSpPr>
        <p:spPr>
          <a:xfrm>
            <a:off x="3172967" y="3255264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8"/>
          <p:cNvSpPr txBox="1"/>
          <p:nvPr/>
        </p:nvSpPr>
        <p:spPr>
          <a:xfrm>
            <a:off x="3264408" y="3397040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receipts_panel.fxml</a:t>
            </a:r>
          </a:p>
        </p:txBody>
      </p:sp>
      <p:sp>
        <p:nvSpPr>
          <p:cNvPr id="110" name="Shape 29"/>
          <p:cNvSpPr/>
          <p:nvPr/>
        </p:nvSpPr>
        <p:spPr>
          <a:xfrm>
            <a:off x="3172967" y="3694176"/>
            <a:ext cx="2834641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30"/>
          <p:cNvSpPr txBox="1"/>
          <p:nvPr/>
        </p:nvSpPr>
        <p:spPr>
          <a:xfrm>
            <a:off x="3264408" y="3835952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report_panel.fxml</a:t>
            </a:r>
          </a:p>
        </p:txBody>
      </p:sp>
      <p:sp>
        <p:nvSpPr>
          <p:cNvPr id="112" name="Shape 31"/>
          <p:cNvSpPr/>
          <p:nvPr/>
        </p:nvSpPr>
        <p:spPr>
          <a:xfrm>
            <a:off x="3172967" y="4133088"/>
            <a:ext cx="2834641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32"/>
          <p:cNvSpPr txBox="1"/>
          <p:nvPr/>
        </p:nvSpPr>
        <p:spPr>
          <a:xfrm>
            <a:off x="3264408" y="427486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cart_panel.fxml</a:t>
            </a:r>
          </a:p>
        </p:txBody>
      </p:sp>
      <p:sp>
        <p:nvSpPr>
          <p:cNvPr id="114" name="Shape 33"/>
          <p:cNvSpPr/>
          <p:nvPr/>
        </p:nvSpPr>
        <p:spPr>
          <a:xfrm>
            <a:off x="3172967" y="4572000"/>
            <a:ext cx="2834641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34"/>
          <p:cNvSpPr txBox="1"/>
          <p:nvPr/>
        </p:nvSpPr>
        <p:spPr>
          <a:xfrm>
            <a:off x="3264408" y="471377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styles.css</a:t>
            </a:r>
          </a:p>
        </p:txBody>
      </p:sp>
      <p:sp>
        <p:nvSpPr>
          <p:cNvPr id="116" name="Shape 35"/>
          <p:cNvSpPr/>
          <p:nvPr/>
        </p:nvSpPr>
        <p:spPr>
          <a:xfrm>
            <a:off x="6163056" y="1508760"/>
            <a:ext cx="2834640" cy="41148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36"/>
          <p:cNvSpPr txBox="1"/>
          <p:nvPr/>
        </p:nvSpPr>
        <p:spPr>
          <a:xfrm>
            <a:off x="6208776" y="1631119"/>
            <a:ext cx="27432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CONTROLLER</a:t>
            </a:r>
          </a:p>
        </p:txBody>
      </p:sp>
      <p:sp>
        <p:nvSpPr>
          <p:cNvPr id="118" name="Shape 37"/>
          <p:cNvSpPr/>
          <p:nvPr/>
        </p:nvSpPr>
        <p:spPr>
          <a:xfrm>
            <a:off x="6163056" y="1938527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38"/>
          <p:cNvSpPr txBox="1"/>
          <p:nvPr/>
        </p:nvSpPr>
        <p:spPr>
          <a:xfrm>
            <a:off x="6254496" y="208030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LoginController</a:t>
            </a:r>
          </a:p>
        </p:txBody>
      </p:sp>
      <p:sp>
        <p:nvSpPr>
          <p:cNvPr id="120" name="Shape 39"/>
          <p:cNvSpPr/>
          <p:nvPr/>
        </p:nvSpPr>
        <p:spPr>
          <a:xfrm>
            <a:off x="6163056" y="2377439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40"/>
          <p:cNvSpPr txBox="1"/>
          <p:nvPr/>
        </p:nvSpPr>
        <p:spPr>
          <a:xfrm>
            <a:off x="6254496" y="251921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MainController</a:t>
            </a:r>
          </a:p>
        </p:txBody>
      </p:sp>
      <p:sp>
        <p:nvSpPr>
          <p:cNvPr id="122" name="Shape 41"/>
          <p:cNvSpPr/>
          <p:nvPr/>
        </p:nvSpPr>
        <p:spPr>
          <a:xfrm>
            <a:off x="6163056" y="2816351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42"/>
          <p:cNvSpPr txBox="1"/>
          <p:nvPr/>
        </p:nvSpPr>
        <p:spPr>
          <a:xfrm>
            <a:off x="6254496" y="295812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ProductsPanelController</a:t>
            </a:r>
          </a:p>
        </p:txBody>
      </p:sp>
      <p:sp>
        <p:nvSpPr>
          <p:cNvPr id="124" name="Shape 43"/>
          <p:cNvSpPr/>
          <p:nvPr/>
        </p:nvSpPr>
        <p:spPr>
          <a:xfrm>
            <a:off x="6163056" y="3255264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44"/>
          <p:cNvSpPr txBox="1"/>
          <p:nvPr/>
        </p:nvSpPr>
        <p:spPr>
          <a:xfrm>
            <a:off x="6254496" y="3397040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ReceiptsPanelController</a:t>
            </a:r>
          </a:p>
        </p:txBody>
      </p:sp>
      <p:sp>
        <p:nvSpPr>
          <p:cNvPr id="126" name="Shape 45"/>
          <p:cNvSpPr/>
          <p:nvPr/>
        </p:nvSpPr>
        <p:spPr>
          <a:xfrm>
            <a:off x="6163056" y="3694176"/>
            <a:ext cx="2834640" cy="42062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46"/>
          <p:cNvSpPr txBox="1"/>
          <p:nvPr/>
        </p:nvSpPr>
        <p:spPr>
          <a:xfrm>
            <a:off x="6254496" y="3835952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ReportPanelController</a:t>
            </a:r>
          </a:p>
        </p:txBody>
      </p:sp>
      <p:sp>
        <p:nvSpPr>
          <p:cNvPr id="128" name="Shape 47"/>
          <p:cNvSpPr/>
          <p:nvPr/>
        </p:nvSpPr>
        <p:spPr>
          <a:xfrm>
            <a:off x="6163056" y="4133088"/>
            <a:ext cx="2834640" cy="42062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48"/>
          <p:cNvSpPr txBox="1"/>
          <p:nvPr/>
        </p:nvSpPr>
        <p:spPr>
          <a:xfrm>
            <a:off x="6254496" y="4274864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CartPanelController</a:t>
            </a:r>
          </a:p>
        </p:txBody>
      </p:sp>
      <p:sp>
        <p:nvSpPr>
          <p:cNvPr id="130" name="Shape 49"/>
          <p:cNvSpPr/>
          <p:nvPr/>
        </p:nvSpPr>
        <p:spPr>
          <a:xfrm>
            <a:off x="6163056" y="4572000"/>
            <a:ext cx="2834640" cy="420624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50"/>
          <p:cNvSpPr txBox="1"/>
          <p:nvPr/>
        </p:nvSpPr>
        <p:spPr>
          <a:xfrm>
            <a:off x="6254496" y="4713776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AdminOrdersPanelController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ИСПОЛЬЗУЕМЫЕ ТЕХНОЛОГИИ</a:t>
            </a:r>
          </a:p>
        </p:txBody>
      </p:sp>
      <p:sp>
        <p:nvSpPr>
          <p:cNvPr id="135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В процессе разработки были использованы:</a:t>
            </a:r>
          </a:p>
        </p:txBody>
      </p:sp>
      <p:sp>
        <p:nvSpPr>
          <p:cNvPr id="136" name="Shape 3"/>
          <p:cNvSpPr/>
          <p:nvPr/>
        </p:nvSpPr>
        <p:spPr>
          <a:xfrm>
            <a:off x="182879" y="1508760"/>
            <a:ext cx="2103122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4"/>
          <p:cNvSpPr txBox="1"/>
          <p:nvPr/>
        </p:nvSpPr>
        <p:spPr>
          <a:xfrm>
            <a:off x="228600" y="1658927"/>
            <a:ext cx="2011679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Язык и GUI:</a:t>
            </a:r>
          </a:p>
        </p:txBody>
      </p:sp>
      <p:sp>
        <p:nvSpPr>
          <p:cNvPr id="138" name="Shape 5"/>
          <p:cNvSpPr/>
          <p:nvPr/>
        </p:nvSpPr>
        <p:spPr>
          <a:xfrm>
            <a:off x="182879" y="1984248"/>
            <a:ext cx="2103122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6"/>
          <p:cNvSpPr txBox="1"/>
          <p:nvPr/>
        </p:nvSpPr>
        <p:spPr>
          <a:xfrm>
            <a:off x="292608" y="2264472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Java 21</a:t>
            </a:r>
          </a:p>
        </p:txBody>
      </p:sp>
      <p:sp>
        <p:nvSpPr>
          <p:cNvPr id="140" name="Text 7"/>
          <p:cNvSpPr txBox="1"/>
          <p:nvPr/>
        </p:nvSpPr>
        <p:spPr>
          <a:xfrm>
            <a:off x="292608" y="2922840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JavaFX 21</a:t>
            </a:r>
          </a:p>
        </p:txBody>
      </p:sp>
      <p:sp>
        <p:nvSpPr>
          <p:cNvPr id="141" name="Text 8"/>
          <p:cNvSpPr txBox="1"/>
          <p:nvPr/>
        </p:nvSpPr>
        <p:spPr>
          <a:xfrm>
            <a:off x="292608" y="3581208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FXML-разметка</a:t>
            </a:r>
          </a:p>
        </p:txBody>
      </p:sp>
      <p:sp>
        <p:nvSpPr>
          <p:cNvPr id="142" name="Text 9"/>
          <p:cNvSpPr txBox="1"/>
          <p:nvPr/>
        </p:nvSpPr>
        <p:spPr>
          <a:xfrm>
            <a:off x="292608" y="4239576"/>
            <a:ext cx="192024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CSS-стилизация</a:t>
            </a:r>
          </a:p>
        </p:txBody>
      </p:sp>
      <p:sp>
        <p:nvSpPr>
          <p:cNvPr id="143" name="Shape 10"/>
          <p:cNvSpPr/>
          <p:nvPr/>
        </p:nvSpPr>
        <p:spPr>
          <a:xfrm>
            <a:off x="2423159" y="1508760"/>
            <a:ext cx="2103122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11"/>
          <p:cNvSpPr txBox="1"/>
          <p:nvPr/>
        </p:nvSpPr>
        <p:spPr>
          <a:xfrm>
            <a:off x="2468879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База данных:</a:t>
            </a:r>
          </a:p>
        </p:txBody>
      </p:sp>
      <p:sp>
        <p:nvSpPr>
          <p:cNvPr id="145" name="Shape 12"/>
          <p:cNvSpPr/>
          <p:nvPr/>
        </p:nvSpPr>
        <p:spPr>
          <a:xfrm>
            <a:off x="2423159" y="1984248"/>
            <a:ext cx="2103122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13"/>
          <p:cNvSpPr txBox="1"/>
          <p:nvPr/>
        </p:nvSpPr>
        <p:spPr>
          <a:xfrm>
            <a:off x="2532888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MySQL 8</a:t>
            </a:r>
          </a:p>
        </p:txBody>
      </p:sp>
      <p:sp>
        <p:nvSpPr>
          <p:cNvPr id="147" name="Text 14"/>
          <p:cNvSpPr txBox="1"/>
          <p:nvPr/>
        </p:nvSpPr>
        <p:spPr>
          <a:xfrm>
            <a:off x="2532888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JDBC</a:t>
            </a:r>
          </a:p>
        </p:txBody>
      </p:sp>
      <p:sp>
        <p:nvSpPr>
          <p:cNvPr id="148" name="Text 15"/>
          <p:cNvSpPr txBox="1"/>
          <p:nvPr/>
        </p:nvSpPr>
        <p:spPr>
          <a:xfrm>
            <a:off x="2532888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MySQL Connector/J 8.0.33</a:t>
            </a:r>
          </a:p>
        </p:txBody>
      </p:sp>
      <p:sp>
        <p:nvSpPr>
          <p:cNvPr id="149" name="Text 16"/>
          <p:cNvSpPr txBox="1"/>
          <p:nvPr/>
        </p:nvSpPr>
        <p:spPr>
          <a:xfrm>
            <a:off x="2532888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Транзакции</a:t>
            </a:r>
          </a:p>
        </p:txBody>
      </p:sp>
      <p:sp>
        <p:nvSpPr>
          <p:cNvPr id="150" name="Shape 17"/>
          <p:cNvSpPr/>
          <p:nvPr/>
        </p:nvSpPr>
        <p:spPr>
          <a:xfrm>
            <a:off x="4663440" y="1508760"/>
            <a:ext cx="210312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8"/>
          <p:cNvSpPr txBox="1"/>
          <p:nvPr/>
        </p:nvSpPr>
        <p:spPr>
          <a:xfrm>
            <a:off x="4709159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Сборка:</a:t>
            </a:r>
          </a:p>
        </p:txBody>
      </p:sp>
      <p:sp>
        <p:nvSpPr>
          <p:cNvPr id="152" name="Shape 19"/>
          <p:cNvSpPr/>
          <p:nvPr/>
        </p:nvSpPr>
        <p:spPr>
          <a:xfrm>
            <a:off x="4663440" y="1984248"/>
            <a:ext cx="2103121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0"/>
          <p:cNvSpPr txBox="1"/>
          <p:nvPr/>
        </p:nvSpPr>
        <p:spPr>
          <a:xfrm>
            <a:off x="4773167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Maven</a:t>
            </a:r>
          </a:p>
        </p:txBody>
      </p:sp>
      <p:sp>
        <p:nvSpPr>
          <p:cNvPr id="154" name="Text 21"/>
          <p:cNvSpPr txBox="1"/>
          <p:nvPr/>
        </p:nvSpPr>
        <p:spPr>
          <a:xfrm>
            <a:off x="4773167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IntelliJ IDEA</a:t>
            </a:r>
          </a:p>
        </p:txBody>
      </p:sp>
      <p:sp>
        <p:nvSpPr>
          <p:cNvPr id="155" name="Text 22"/>
          <p:cNvSpPr txBox="1"/>
          <p:nvPr/>
        </p:nvSpPr>
        <p:spPr>
          <a:xfrm>
            <a:off x="4773167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pom.xml зависимости</a:t>
            </a:r>
          </a:p>
        </p:txBody>
      </p:sp>
      <p:sp>
        <p:nvSpPr>
          <p:cNvPr id="156" name="Text 23"/>
          <p:cNvSpPr txBox="1"/>
          <p:nvPr/>
        </p:nvSpPr>
        <p:spPr>
          <a:xfrm>
            <a:off x="4773167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Локальный запуск</a:t>
            </a:r>
          </a:p>
        </p:txBody>
      </p:sp>
      <p:sp>
        <p:nvSpPr>
          <p:cNvPr id="157" name="Shape 24"/>
          <p:cNvSpPr/>
          <p:nvPr/>
        </p:nvSpPr>
        <p:spPr>
          <a:xfrm>
            <a:off x="6903719" y="1508760"/>
            <a:ext cx="210312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25"/>
          <p:cNvSpPr txBox="1"/>
          <p:nvPr/>
        </p:nvSpPr>
        <p:spPr>
          <a:xfrm>
            <a:off x="6949440" y="1658927"/>
            <a:ext cx="201168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/>
            <a:r>
              <a:t>Архитектура:</a:t>
            </a:r>
          </a:p>
        </p:txBody>
      </p:sp>
      <p:sp>
        <p:nvSpPr>
          <p:cNvPr id="159" name="Shape 26"/>
          <p:cNvSpPr/>
          <p:nvPr/>
        </p:nvSpPr>
        <p:spPr>
          <a:xfrm>
            <a:off x="6903719" y="1984248"/>
            <a:ext cx="2103121" cy="2926081"/>
          </a:xfrm>
          <a:prstGeom prst="rect">
            <a:avLst/>
          </a:prstGeom>
          <a:solidFill>
            <a:srgbClr val="D9D9D9"/>
          </a:solidFill>
          <a:ln w="12700">
            <a:solidFill>
              <a:srgbClr val="BBBBB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Text 27"/>
          <p:cNvSpPr txBox="1"/>
          <p:nvPr/>
        </p:nvSpPr>
        <p:spPr>
          <a:xfrm>
            <a:off x="7013447" y="2264472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MVC паттерн</a:t>
            </a:r>
          </a:p>
        </p:txBody>
      </p:sp>
      <p:sp>
        <p:nvSpPr>
          <p:cNvPr id="161" name="Text 28"/>
          <p:cNvSpPr txBox="1"/>
          <p:nvPr/>
        </p:nvSpPr>
        <p:spPr>
          <a:xfrm>
            <a:off x="7013447" y="2922840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PreparedStatement</a:t>
            </a:r>
          </a:p>
        </p:txBody>
      </p:sp>
      <p:sp>
        <p:nvSpPr>
          <p:cNvPr id="162" name="Text 29"/>
          <p:cNvSpPr txBox="1"/>
          <p:nvPr/>
        </p:nvSpPr>
        <p:spPr>
          <a:xfrm>
            <a:off x="7013447" y="3581208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DAO-подход</a:t>
            </a:r>
          </a:p>
        </p:txBody>
      </p:sp>
      <p:sp>
        <p:nvSpPr>
          <p:cNvPr id="163" name="Text 30"/>
          <p:cNvSpPr txBox="1"/>
          <p:nvPr/>
        </p:nvSpPr>
        <p:spPr>
          <a:xfrm>
            <a:off x="7013447" y="4239576"/>
            <a:ext cx="19202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/>
            </a:lvl1pPr>
          </a:lstStyle>
          <a:p>
            <a:pPr/>
            <a:r>
              <a:t>Singleton (DB)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РОЛЕВАЯ МОДЕЛЬ ДОСТУПА</a:t>
            </a:r>
          </a:p>
        </p:txBody>
      </p:sp>
      <p:sp>
        <p:nvSpPr>
          <p:cNvPr id="167" name="Shape 2"/>
          <p:cNvSpPr/>
          <p:nvPr/>
        </p:nvSpPr>
        <p:spPr>
          <a:xfrm>
            <a:off x="182880" y="1115567"/>
            <a:ext cx="2834640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3"/>
          <p:cNvSpPr txBox="1"/>
          <p:nvPr/>
        </p:nvSpPr>
        <p:spPr>
          <a:xfrm>
            <a:off x="228600" y="1265735"/>
            <a:ext cx="2743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АДМИНИСТРАТОР</a:t>
            </a:r>
          </a:p>
        </p:txBody>
      </p:sp>
      <p:sp>
        <p:nvSpPr>
          <p:cNvPr id="169" name="Shape 4"/>
          <p:cNvSpPr/>
          <p:nvPr/>
        </p:nvSpPr>
        <p:spPr>
          <a:xfrm>
            <a:off x="182880" y="1591055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5"/>
          <p:cNvSpPr txBox="1"/>
          <p:nvPr/>
        </p:nvSpPr>
        <p:spPr>
          <a:xfrm>
            <a:off x="274319" y="1765300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товарами (CRUD)</a:t>
            </a:r>
          </a:p>
        </p:txBody>
      </p:sp>
      <p:sp>
        <p:nvSpPr>
          <p:cNvPr id="171" name="Shape 6"/>
          <p:cNvSpPr/>
          <p:nvPr/>
        </p:nvSpPr>
        <p:spPr>
          <a:xfrm>
            <a:off x="182880" y="2084832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7"/>
          <p:cNvSpPr txBox="1"/>
          <p:nvPr/>
        </p:nvSpPr>
        <p:spPr>
          <a:xfrm>
            <a:off x="274319" y="2259076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поступлений и расходов</a:t>
            </a:r>
          </a:p>
        </p:txBody>
      </p:sp>
      <p:sp>
        <p:nvSpPr>
          <p:cNvPr id="173" name="Shape 8"/>
          <p:cNvSpPr/>
          <p:nvPr/>
        </p:nvSpPr>
        <p:spPr>
          <a:xfrm>
            <a:off x="182880" y="2578607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9"/>
          <p:cNvSpPr txBox="1"/>
          <p:nvPr/>
        </p:nvSpPr>
        <p:spPr>
          <a:xfrm>
            <a:off x="274319" y="2752851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Списание товаров</a:t>
            </a:r>
          </a:p>
        </p:txBody>
      </p:sp>
      <p:sp>
        <p:nvSpPr>
          <p:cNvPr id="175" name="Shape 10"/>
          <p:cNvSpPr/>
          <p:nvPr/>
        </p:nvSpPr>
        <p:spPr>
          <a:xfrm>
            <a:off x="182880" y="3072383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11"/>
          <p:cNvSpPr txBox="1"/>
          <p:nvPr/>
        </p:nvSpPr>
        <p:spPr>
          <a:xfrm>
            <a:off x="274319" y="3246628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Журнал всех операций</a:t>
            </a:r>
          </a:p>
        </p:txBody>
      </p:sp>
      <p:sp>
        <p:nvSpPr>
          <p:cNvPr id="177" name="Shape 12"/>
          <p:cNvSpPr/>
          <p:nvPr/>
        </p:nvSpPr>
        <p:spPr>
          <a:xfrm>
            <a:off x="182880" y="3566159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3"/>
          <p:cNvSpPr txBox="1"/>
          <p:nvPr/>
        </p:nvSpPr>
        <p:spPr>
          <a:xfrm>
            <a:off x="274319" y="3740403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Аналитический отчёт</a:t>
            </a:r>
          </a:p>
        </p:txBody>
      </p:sp>
      <p:sp>
        <p:nvSpPr>
          <p:cNvPr id="179" name="Shape 14"/>
          <p:cNvSpPr/>
          <p:nvPr/>
        </p:nvSpPr>
        <p:spPr>
          <a:xfrm>
            <a:off x="182880" y="4059935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15"/>
          <p:cNvSpPr txBox="1"/>
          <p:nvPr/>
        </p:nvSpPr>
        <p:spPr>
          <a:xfrm>
            <a:off x="274319" y="4234179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пользователями</a:t>
            </a:r>
          </a:p>
        </p:txBody>
      </p:sp>
      <p:sp>
        <p:nvSpPr>
          <p:cNvPr id="181" name="Shape 16"/>
          <p:cNvSpPr/>
          <p:nvPr/>
        </p:nvSpPr>
        <p:spPr>
          <a:xfrm>
            <a:off x="182880" y="4553711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7"/>
          <p:cNvSpPr txBox="1"/>
          <p:nvPr/>
        </p:nvSpPr>
        <p:spPr>
          <a:xfrm>
            <a:off x="274319" y="4727956"/>
            <a:ext cx="26517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Управление заказами клиентов</a:t>
            </a:r>
          </a:p>
        </p:txBody>
      </p:sp>
      <p:sp>
        <p:nvSpPr>
          <p:cNvPr id="183" name="Shape 18"/>
          <p:cNvSpPr/>
          <p:nvPr/>
        </p:nvSpPr>
        <p:spPr>
          <a:xfrm>
            <a:off x="3172967" y="1115567"/>
            <a:ext cx="2834641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19"/>
          <p:cNvSpPr txBox="1"/>
          <p:nvPr/>
        </p:nvSpPr>
        <p:spPr>
          <a:xfrm>
            <a:off x="3218688" y="126573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ОПЕРАТОР</a:t>
            </a:r>
          </a:p>
        </p:txBody>
      </p:sp>
      <p:sp>
        <p:nvSpPr>
          <p:cNvPr id="185" name="Shape 20"/>
          <p:cNvSpPr/>
          <p:nvPr/>
        </p:nvSpPr>
        <p:spPr>
          <a:xfrm>
            <a:off x="3172967" y="1591055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21"/>
          <p:cNvSpPr txBox="1"/>
          <p:nvPr/>
        </p:nvSpPr>
        <p:spPr>
          <a:xfrm>
            <a:off x="3264408" y="1765300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и поиск товаров</a:t>
            </a:r>
          </a:p>
        </p:txBody>
      </p:sp>
      <p:sp>
        <p:nvSpPr>
          <p:cNvPr id="187" name="Shape 22"/>
          <p:cNvSpPr/>
          <p:nvPr/>
        </p:nvSpPr>
        <p:spPr>
          <a:xfrm>
            <a:off x="3172967" y="2084832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8" name="Text 23"/>
          <p:cNvSpPr txBox="1"/>
          <p:nvPr/>
        </p:nvSpPr>
        <p:spPr>
          <a:xfrm>
            <a:off x="3264408" y="2259076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поступлений</a:t>
            </a:r>
          </a:p>
        </p:txBody>
      </p:sp>
      <p:sp>
        <p:nvSpPr>
          <p:cNvPr id="189" name="Shape 24"/>
          <p:cNvSpPr/>
          <p:nvPr/>
        </p:nvSpPr>
        <p:spPr>
          <a:xfrm>
            <a:off x="3172967" y="2578607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25"/>
          <p:cNvSpPr txBox="1"/>
          <p:nvPr/>
        </p:nvSpPr>
        <p:spPr>
          <a:xfrm>
            <a:off x="3264408" y="27528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 расходов</a:t>
            </a:r>
          </a:p>
        </p:txBody>
      </p:sp>
      <p:sp>
        <p:nvSpPr>
          <p:cNvPr id="191" name="Shape 26"/>
          <p:cNvSpPr/>
          <p:nvPr/>
        </p:nvSpPr>
        <p:spPr>
          <a:xfrm>
            <a:off x="3172967" y="3072383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2" name="Text 27"/>
          <p:cNvSpPr txBox="1"/>
          <p:nvPr/>
        </p:nvSpPr>
        <p:spPr>
          <a:xfrm>
            <a:off x="3264408" y="3246628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Списание товаров</a:t>
            </a:r>
          </a:p>
        </p:txBody>
      </p:sp>
      <p:sp>
        <p:nvSpPr>
          <p:cNvPr id="193" name="Shape 28"/>
          <p:cNvSpPr/>
          <p:nvPr/>
        </p:nvSpPr>
        <p:spPr>
          <a:xfrm>
            <a:off x="3172967" y="3566159"/>
            <a:ext cx="2834641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29"/>
          <p:cNvSpPr txBox="1"/>
          <p:nvPr/>
        </p:nvSpPr>
        <p:spPr>
          <a:xfrm>
            <a:off x="3264408" y="37404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Мониторинг низких остатков</a:t>
            </a:r>
          </a:p>
        </p:txBody>
      </p:sp>
      <p:sp>
        <p:nvSpPr>
          <p:cNvPr id="195" name="Shape 30"/>
          <p:cNvSpPr/>
          <p:nvPr/>
        </p:nvSpPr>
        <p:spPr>
          <a:xfrm>
            <a:off x="3172967" y="4059935"/>
            <a:ext cx="2834641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Text 31"/>
          <p:cNvSpPr txBox="1"/>
          <p:nvPr/>
        </p:nvSpPr>
        <p:spPr>
          <a:xfrm>
            <a:off x="3264408" y="4234179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Журнал операций</a:t>
            </a:r>
          </a:p>
        </p:txBody>
      </p:sp>
      <p:sp>
        <p:nvSpPr>
          <p:cNvPr id="197" name="Shape 32"/>
          <p:cNvSpPr/>
          <p:nvPr/>
        </p:nvSpPr>
        <p:spPr>
          <a:xfrm>
            <a:off x="6163056" y="1115567"/>
            <a:ext cx="2834640" cy="457201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Text 33"/>
          <p:cNvSpPr txBox="1"/>
          <p:nvPr/>
        </p:nvSpPr>
        <p:spPr>
          <a:xfrm>
            <a:off x="6208776" y="1265735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КЛИЕНТ</a:t>
            </a:r>
          </a:p>
        </p:txBody>
      </p:sp>
      <p:sp>
        <p:nvSpPr>
          <p:cNvPr id="199" name="Shape 34"/>
          <p:cNvSpPr/>
          <p:nvPr/>
        </p:nvSpPr>
        <p:spPr>
          <a:xfrm>
            <a:off x="6163056" y="1591055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35"/>
          <p:cNvSpPr txBox="1"/>
          <p:nvPr/>
        </p:nvSpPr>
        <p:spPr>
          <a:xfrm>
            <a:off x="6254496" y="1765300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каталога товаров</a:t>
            </a:r>
          </a:p>
        </p:txBody>
      </p:sp>
      <p:sp>
        <p:nvSpPr>
          <p:cNvPr id="201" name="Shape 36"/>
          <p:cNvSpPr/>
          <p:nvPr/>
        </p:nvSpPr>
        <p:spPr>
          <a:xfrm>
            <a:off x="6163056" y="2084832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Text 37"/>
          <p:cNvSpPr txBox="1"/>
          <p:nvPr/>
        </p:nvSpPr>
        <p:spPr>
          <a:xfrm>
            <a:off x="6254496" y="2259076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Добавление в корзину</a:t>
            </a:r>
          </a:p>
        </p:txBody>
      </p:sp>
      <p:sp>
        <p:nvSpPr>
          <p:cNvPr id="203" name="Shape 38"/>
          <p:cNvSpPr/>
          <p:nvPr/>
        </p:nvSpPr>
        <p:spPr>
          <a:xfrm>
            <a:off x="6163056" y="2578607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39"/>
          <p:cNvSpPr txBox="1"/>
          <p:nvPr/>
        </p:nvSpPr>
        <p:spPr>
          <a:xfrm>
            <a:off x="6254496" y="2752851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Оформление заказов</a:t>
            </a:r>
          </a:p>
        </p:txBody>
      </p:sp>
      <p:sp>
        <p:nvSpPr>
          <p:cNvPr id="205" name="Shape 40"/>
          <p:cNvSpPr/>
          <p:nvPr/>
        </p:nvSpPr>
        <p:spPr>
          <a:xfrm>
            <a:off x="6163056" y="3072383"/>
            <a:ext cx="2834640" cy="475488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41"/>
          <p:cNvSpPr txBox="1"/>
          <p:nvPr/>
        </p:nvSpPr>
        <p:spPr>
          <a:xfrm>
            <a:off x="6254496" y="3246628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своих заказов</a:t>
            </a:r>
          </a:p>
        </p:txBody>
      </p:sp>
      <p:sp>
        <p:nvSpPr>
          <p:cNvPr id="207" name="Shape 42"/>
          <p:cNvSpPr/>
          <p:nvPr/>
        </p:nvSpPr>
        <p:spPr>
          <a:xfrm>
            <a:off x="6163056" y="3566159"/>
            <a:ext cx="2834640" cy="475488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43"/>
          <p:cNvSpPr txBox="1"/>
          <p:nvPr/>
        </p:nvSpPr>
        <p:spPr>
          <a:xfrm>
            <a:off x="6254496" y="3740403"/>
            <a:ext cx="2651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Просмотр статусов заказов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УЧЁТ СКЛАДСКИХ ОПЕРАЦИЙ</a:t>
            </a:r>
          </a:p>
        </p:txBody>
      </p:sp>
      <p:sp>
        <p:nvSpPr>
          <p:cNvPr id="212" name="Text 2"/>
          <p:cNvSpPr txBox="1"/>
          <p:nvPr/>
        </p:nvSpPr>
        <p:spPr>
          <a:xfrm>
            <a:off x="182879" y="929448"/>
            <a:ext cx="877824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Транзакционный подход: setAutoCommit(false) → commit() / rollback()</a:t>
            </a:r>
          </a:p>
        </p:txBody>
      </p:sp>
      <p:sp>
        <p:nvSpPr>
          <p:cNvPr id="213" name="Shape 3"/>
          <p:cNvSpPr/>
          <p:nvPr/>
        </p:nvSpPr>
        <p:spPr>
          <a:xfrm>
            <a:off x="182880" y="1508760"/>
            <a:ext cx="2834640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4"/>
          <p:cNvSpPr txBox="1"/>
          <p:nvPr/>
        </p:nvSpPr>
        <p:spPr>
          <a:xfrm>
            <a:off x="228600" y="1658927"/>
            <a:ext cx="274320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ПОСТУПЛЕНИЕ</a:t>
            </a:r>
          </a:p>
        </p:txBody>
      </p:sp>
      <p:sp>
        <p:nvSpPr>
          <p:cNvPr id="215" name="Shape 5"/>
          <p:cNvSpPr/>
          <p:nvPr/>
        </p:nvSpPr>
        <p:spPr>
          <a:xfrm>
            <a:off x="182880" y="198424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Text 6"/>
          <p:cNvSpPr txBox="1"/>
          <p:nvPr/>
        </p:nvSpPr>
        <p:spPr>
          <a:xfrm>
            <a:off x="274319" y="218088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setAutoCommit(false)</a:t>
            </a:r>
          </a:p>
        </p:txBody>
      </p:sp>
      <p:sp>
        <p:nvSpPr>
          <p:cNvPr id="217" name="Shape 7"/>
          <p:cNvSpPr/>
          <p:nvPr/>
        </p:nvSpPr>
        <p:spPr>
          <a:xfrm>
            <a:off x="182880" y="2532888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Text 8"/>
          <p:cNvSpPr txBox="1"/>
          <p:nvPr/>
        </p:nvSpPr>
        <p:spPr>
          <a:xfrm>
            <a:off x="274319" y="272952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INSERT INTO receipts</a:t>
            </a:r>
          </a:p>
        </p:txBody>
      </p:sp>
      <p:sp>
        <p:nvSpPr>
          <p:cNvPr id="219" name="Shape 9"/>
          <p:cNvSpPr/>
          <p:nvPr/>
        </p:nvSpPr>
        <p:spPr>
          <a:xfrm>
            <a:off x="182880" y="3081528"/>
            <a:ext cx="2834640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0" name="Text 10"/>
          <p:cNvSpPr txBox="1"/>
          <p:nvPr/>
        </p:nvSpPr>
        <p:spPr>
          <a:xfrm>
            <a:off x="274319" y="327816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SET quantity = quantity + N</a:t>
            </a:r>
          </a:p>
        </p:txBody>
      </p:sp>
      <p:sp>
        <p:nvSpPr>
          <p:cNvPr id="221" name="Shape 11"/>
          <p:cNvSpPr/>
          <p:nvPr/>
        </p:nvSpPr>
        <p:spPr>
          <a:xfrm>
            <a:off x="182880" y="3630167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12"/>
          <p:cNvSpPr txBox="1"/>
          <p:nvPr/>
        </p:nvSpPr>
        <p:spPr>
          <a:xfrm>
            <a:off x="274319" y="3826808"/>
            <a:ext cx="265176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commit()</a:t>
            </a:r>
          </a:p>
        </p:txBody>
      </p:sp>
      <p:sp>
        <p:nvSpPr>
          <p:cNvPr id="223" name="Shape 13"/>
          <p:cNvSpPr/>
          <p:nvPr/>
        </p:nvSpPr>
        <p:spPr>
          <a:xfrm>
            <a:off x="3172967" y="1508760"/>
            <a:ext cx="2834641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14"/>
          <p:cNvSpPr txBox="1"/>
          <p:nvPr/>
        </p:nvSpPr>
        <p:spPr>
          <a:xfrm>
            <a:off x="3218688" y="1658927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РАСХОД</a:t>
            </a:r>
          </a:p>
        </p:txBody>
      </p:sp>
      <p:sp>
        <p:nvSpPr>
          <p:cNvPr id="225" name="Shape 15"/>
          <p:cNvSpPr/>
          <p:nvPr/>
        </p:nvSpPr>
        <p:spPr>
          <a:xfrm>
            <a:off x="3172967" y="1984248"/>
            <a:ext cx="283464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16"/>
          <p:cNvSpPr txBox="1"/>
          <p:nvPr/>
        </p:nvSpPr>
        <p:spPr>
          <a:xfrm>
            <a:off x="3264408" y="218088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Проверка: остаток &gt;= N?</a:t>
            </a:r>
          </a:p>
        </p:txBody>
      </p:sp>
      <p:sp>
        <p:nvSpPr>
          <p:cNvPr id="227" name="Shape 17"/>
          <p:cNvSpPr/>
          <p:nvPr/>
        </p:nvSpPr>
        <p:spPr>
          <a:xfrm>
            <a:off x="3172967" y="2532888"/>
            <a:ext cx="283464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18"/>
          <p:cNvSpPr txBox="1"/>
          <p:nvPr/>
        </p:nvSpPr>
        <p:spPr>
          <a:xfrm>
            <a:off x="3264408" y="272952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setAutoCommit(false)</a:t>
            </a:r>
          </a:p>
        </p:txBody>
      </p:sp>
      <p:sp>
        <p:nvSpPr>
          <p:cNvPr id="229" name="Shape 19"/>
          <p:cNvSpPr/>
          <p:nvPr/>
        </p:nvSpPr>
        <p:spPr>
          <a:xfrm>
            <a:off x="3172967" y="3081528"/>
            <a:ext cx="2834641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0"/>
          <p:cNvSpPr txBox="1"/>
          <p:nvPr/>
        </p:nvSpPr>
        <p:spPr>
          <a:xfrm>
            <a:off x="3264408" y="327816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INSERT INTO expenses</a:t>
            </a:r>
          </a:p>
        </p:txBody>
      </p:sp>
      <p:sp>
        <p:nvSpPr>
          <p:cNvPr id="231" name="Shape 21"/>
          <p:cNvSpPr/>
          <p:nvPr/>
        </p:nvSpPr>
        <p:spPr>
          <a:xfrm>
            <a:off x="3172967" y="3630167"/>
            <a:ext cx="283464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22"/>
          <p:cNvSpPr txBox="1"/>
          <p:nvPr/>
        </p:nvSpPr>
        <p:spPr>
          <a:xfrm>
            <a:off x="3264408" y="382680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SET quantity = quantity - N</a:t>
            </a:r>
          </a:p>
        </p:txBody>
      </p:sp>
      <p:sp>
        <p:nvSpPr>
          <p:cNvPr id="233" name="Shape 23"/>
          <p:cNvSpPr/>
          <p:nvPr/>
        </p:nvSpPr>
        <p:spPr>
          <a:xfrm>
            <a:off x="3172967" y="4178808"/>
            <a:ext cx="283464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24"/>
          <p:cNvSpPr txBox="1"/>
          <p:nvPr/>
        </p:nvSpPr>
        <p:spPr>
          <a:xfrm>
            <a:off x="3264408" y="437544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5. commit()</a:t>
            </a:r>
          </a:p>
        </p:txBody>
      </p:sp>
      <p:sp>
        <p:nvSpPr>
          <p:cNvPr id="235" name="Shape 25"/>
          <p:cNvSpPr/>
          <p:nvPr/>
        </p:nvSpPr>
        <p:spPr>
          <a:xfrm>
            <a:off x="6163056" y="1508760"/>
            <a:ext cx="2834640" cy="457201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26"/>
          <p:cNvSpPr txBox="1"/>
          <p:nvPr/>
        </p:nvSpPr>
        <p:spPr>
          <a:xfrm>
            <a:off x="6208776" y="1658927"/>
            <a:ext cx="27432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СПИСАНИЕ</a:t>
            </a:r>
          </a:p>
        </p:txBody>
      </p:sp>
      <p:sp>
        <p:nvSpPr>
          <p:cNvPr id="237" name="Shape 27"/>
          <p:cNvSpPr/>
          <p:nvPr/>
        </p:nvSpPr>
        <p:spPr>
          <a:xfrm>
            <a:off x="6163056" y="198424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Text 28"/>
          <p:cNvSpPr txBox="1"/>
          <p:nvPr/>
        </p:nvSpPr>
        <p:spPr>
          <a:xfrm>
            <a:off x="6254496" y="218088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1. Та же логика что расход</a:t>
            </a:r>
          </a:p>
        </p:txBody>
      </p:sp>
      <p:sp>
        <p:nvSpPr>
          <p:cNvPr id="239" name="Shape 29"/>
          <p:cNvSpPr/>
          <p:nvPr/>
        </p:nvSpPr>
        <p:spPr>
          <a:xfrm>
            <a:off x="6163056" y="2532888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0" name="Text 30"/>
          <p:cNvSpPr txBox="1"/>
          <p:nvPr/>
        </p:nvSpPr>
        <p:spPr>
          <a:xfrm>
            <a:off x="6254496" y="272952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2. reason = 'Списание: ...'</a:t>
            </a:r>
          </a:p>
        </p:txBody>
      </p:sp>
      <p:sp>
        <p:nvSpPr>
          <p:cNvPr id="241" name="Shape 31"/>
          <p:cNvSpPr/>
          <p:nvPr/>
        </p:nvSpPr>
        <p:spPr>
          <a:xfrm>
            <a:off x="6163056" y="3081528"/>
            <a:ext cx="2834640" cy="530352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32"/>
          <p:cNvSpPr txBox="1"/>
          <p:nvPr/>
        </p:nvSpPr>
        <p:spPr>
          <a:xfrm>
            <a:off x="6254496" y="327816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3. INSERT INTO expenses</a:t>
            </a:r>
          </a:p>
        </p:txBody>
      </p:sp>
      <p:sp>
        <p:nvSpPr>
          <p:cNvPr id="243" name="Shape 33"/>
          <p:cNvSpPr/>
          <p:nvPr/>
        </p:nvSpPr>
        <p:spPr>
          <a:xfrm>
            <a:off x="6163056" y="3630167"/>
            <a:ext cx="283464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Text 34"/>
          <p:cNvSpPr txBox="1"/>
          <p:nvPr/>
        </p:nvSpPr>
        <p:spPr>
          <a:xfrm>
            <a:off x="6254496" y="3826808"/>
            <a:ext cx="2651761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4. SET quantity = quantity - N</a:t>
            </a:r>
          </a:p>
        </p:txBody>
      </p:sp>
      <p:sp>
        <p:nvSpPr>
          <p:cNvPr id="245" name="Shape 35"/>
          <p:cNvSpPr/>
          <p:nvPr/>
        </p:nvSpPr>
        <p:spPr>
          <a:xfrm>
            <a:off x="6163056" y="4178808"/>
            <a:ext cx="283464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36"/>
          <p:cNvSpPr txBox="1"/>
          <p:nvPr/>
        </p:nvSpPr>
        <p:spPr>
          <a:xfrm>
            <a:off x="6254496" y="4375448"/>
            <a:ext cx="265176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5. commit()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РЕЗУЛЬТАТЫ ТЕСТИРОВАНИЯ</a:t>
            </a:r>
          </a:p>
        </p:txBody>
      </p:sp>
      <p:sp>
        <p:nvSpPr>
          <p:cNvPr id="250" name="Shape 2"/>
          <p:cNvSpPr/>
          <p:nvPr/>
        </p:nvSpPr>
        <p:spPr>
          <a:xfrm>
            <a:off x="182879" y="1170432"/>
            <a:ext cx="8778242" cy="384049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3"/>
          <p:cNvSpPr txBox="1"/>
          <p:nvPr/>
        </p:nvSpPr>
        <p:spPr>
          <a:xfrm>
            <a:off x="237743" y="1293920"/>
            <a:ext cx="18288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Модуль</a:t>
            </a:r>
          </a:p>
        </p:txBody>
      </p:sp>
      <p:sp>
        <p:nvSpPr>
          <p:cNvPr id="252" name="Text 4"/>
          <p:cNvSpPr txBox="1"/>
          <p:nvPr/>
        </p:nvSpPr>
        <p:spPr>
          <a:xfrm>
            <a:off x="2112264" y="1293920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Тестовый сценарий</a:t>
            </a:r>
          </a:p>
        </p:txBody>
      </p:sp>
      <p:sp>
        <p:nvSpPr>
          <p:cNvPr id="253" name="Text 5"/>
          <p:cNvSpPr txBox="1"/>
          <p:nvPr/>
        </p:nvSpPr>
        <p:spPr>
          <a:xfrm>
            <a:off x="6181344" y="1293920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Результат</a:t>
            </a:r>
          </a:p>
        </p:txBody>
      </p:sp>
      <p:sp>
        <p:nvSpPr>
          <p:cNvPr id="254" name="Text 6"/>
          <p:cNvSpPr txBox="1"/>
          <p:nvPr/>
        </p:nvSpPr>
        <p:spPr>
          <a:xfrm>
            <a:off x="8513064" y="1286255"/>
            <a:ext cx="457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55" name="Shape 7"/>
          <p:cNvSpPr/>
          <p:nvPr/>
        </p:nvSpPr>
        <p:spPr>
          <a:xfrm>
            <a:off x="182879" y="1572767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8"/>
          <p:cNvSpPr txBox="1"/>
          <p:nvPr/>
        </p:nvSpPr>
        <p:spPr>
          <a:xfrm>
            <a:off x="237743" y="169672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Авторизация</a:t>
            </a:r>
          </a:p>
        </p:txBody>
      </p:sp>
      <p:sp>
        <p:nvSpPr>
          <p:cNvPr id="257" name="Text 9"/>
          <p:cNvSpPr txBox="1"/>
          <p:nvPr/>
        </p:nvSpPr>
        <p:spPr>
          <a:xfrm>
            <a:off x="2112264" y="1696720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Верный логин/пароль → вход, набор кнопок по роли</a:t>
            </a:r>
          </a:p>
        </p:txBody>
      </p:sp>
      <p:sp>
        <p:nvSpPr>
          <p:cNvPr id="258" name="Text 10"/>
          <p:cNvSpPr txBox="1"/>
          <p:nvPr/>
        </p:nvSpPr>
        <p:spPr>
          <a:xfrm>
            <a:off x="6181344" y="169672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Соответствует роли</a:t>
            </a:r>
          </a:p>
        </p:txBody>
      </p:sp>
      <p:sp>
        <p:nvSpPr>
          <p:cNvPr id="259" name="Text 11"/>
          <p:cNvSpPr txBox="1"/>
          <p:nvPr/>
        </p:nvSpPr>
        <p:spPr>
          <a:xfrm>
            <a:off x="8513064" y="1664969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60" name="Shape 12"/>
          <p:cNvSpPr/>
          <p:nvPr/>
        </p:nvSpPr>
        <p:spPr>
          <a:xfrm>
            <a:off x="182879" y="1956816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13"/>
          <p:cNvSpPr txBox="1"/>
          <p:nvPr/>
        </p:nvSpPr>
        <p:spPr>
          <a:xfrm>
            <a:off x="237743" y="2080768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Авторизация</a:t>
            </a:r>
          </a:p>
        </p:txBody>
      </p:sp>
      <p:sp>
        <p:nvSpPr>
          <p:cNvPr id="262" name="Text 14"/>
          <p:cNvSpPr txBox="1"/>
          <p:nvPr/>
        </p:nvSpPr>
        <p:spPr>
          <a:xfrm>
            <a:off x="2112264" y="2080768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Неверный пароль → сообщение об ошибке</a:t>
            </a:r>
          </a:p>
        </p:txBody>
      </p:sp>
      <p:sp>
        <p:nvSpPr>
          <p:cNvPr id="263" name="Text 15"/>
          <p:cNvSpPr txBox="1"/>
          <p:nvPr/>
        </p:nvSpPr>
        <p:spPr>
          <a:xfrm>
            <a:off x="6181344" y="2080768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Вход закрыт</a:t>
            </a:r>
          </a:p>
        </p:txBody>
      </p:sp>
      <p:sp>
        <p:nvSpPr>
          <p:cNvPr id="264" name="Text 16"/>
          <p:cNvSpPr txBox="1"/>
          <p:nvPr/>
        </p:nvSpPr>
        <p:spPr>
          <a:xfrm>
            <a:off x="8513064" y="2049018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65" name="Shape 17"/>
          <p:cNvSpPr/>
          <p:nvPr/>
        </p:nvSpPr>
        <p:spPr>
          <a:xfrm>
            <a:off x="182879" y="2340864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18"/>
          <p:cNvSpPr txBox="1"/>
          <p:nvPr/>
        </p:nvSpPr>
        <p:spPr>
          <a:xfrm>
            <a:off x="237743" y="246481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Товары</a:t>
            </a:r>
          </a:p>
        </p:txBody>
      </p:sp>
      <p:sp>
        <p:nvSpPr>
          <p:cNvPr id="267" name="Text 19"/>
          <p:cNvSpPr txBox="1"/>
          <p:nvPr/>
        </p:nvSpPr>
        <p:spPr>
          <a:xfrm>
            <a:off x="2112264" y="2464815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Добавление с заполненными полями</a:t>
            </a:r>
          </a:p>
        </p:txBody>
      </p:sp>
      <p:sp>
        <p:nvSpPr>
          <p:cNvPr id="268" name="Text 20"/>
          <p:cNvSpPr txBox="1"/>
          <p:nvPr/>
        </p:nvSpPr>
        <p:spPr>
          <a:xfrm>
            <a:off x="6181344" y="2464815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Запись в БД, строка в таблице</a:t>
            </a:r>
          </a:p>
        </p:txBody>
      </p:sp>
      <p:sp>
        <p:nvSpPr>
          <p:cNvPr id="269" name="Text 21"/>
          <p:cNvSpPr txBox="1"/>
          <p:nvPr/>
        </p:nvSpPr>
        <p:spPr>
          <a:xfrm>
            <a:off x="8513064" y="2433065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0" name="Shape 22"/>
          <p:cNvSpPr/>
          <p:nvPr/>
        </p:nvSpPr>
        <p:spPr>
          <a:xfrm>
            <a:off x="182879" y="2724911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23"/>
          <p:cNvSpPr txBox="1"/>
          <p:nvPr/>
        </p:nvSpPr>
        <p:spPr>
          <a:xfrm>
            <a:off x="237743" y="284886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Товары</a:t>
            </a:r>
          </a:p>
        </p:txBody>
      </p:sp>
      <p:sp>
        <p:nvSpPr>
          <p:cNvPr id="272" name="Text 24"/>
          <p:cNvSpPr txBox="1"/>
          <p:nvPr/>
        </p:nvSpPr>
        <p:spPr>
          <a:xfrm>
            <a:off x="2112264" y="2848864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Поиск по подстроке LIKE %keyword%</a:t>
            </a:r>
          </a:p>
        </p:txBody>
      </p:sp>
      <p:sp>
        <p:nvSpPr>
          <p:cNvPr id="273" name="Text 25"/>
          <p:cNvSpPr txBox="1"/>
          <p:nvPr/>
        </p:nvSpPr>
        <p:spPr>
          <a:xfrm>
            <a:off x="6181344" y="2848864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Все совпадения</a:t>
            </a:r>
          </a:p>
        </p:txBody>
      </p:sp>
      <p:sp>
        <p:nvSpPr>
          <p:cNvPr id="274" name="Text 26"/>
          <p:cNvSpPr txBox="1"/>
          <p:nvPr/>
        </p:nvSpPr>
        <p:spPr>
          <a:xfrm>
            <a:off x="8513064" y="2817114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75" name="Shape 27"/>
          <p:cNvSpPr/>
          <p:nvPr/>
        </p:nvSpPr>
        <p:spPr>
          <a:xfrm>
            <a:off x="182879" y="3108960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Text 28"/>
          <p:cNvSpPr txBox="1"/>
          <p:nvPr/>
        </p:nvSpPr>
        <p:spPr>
          <a:xfrm>
            <a:off x="237743" y="3232912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Поступление</a:t>
            </a:r>
          </a:p>
        </p:txBody>
      </p:sp>
      <p:sp>
        <p:nvSpPr>
          <p:cNvPr id="277" name="Text 29"/>
          <p:cNvSpPr txBox="1"/>
          <p:nvPr/>
        </p:nvSpPr>
        <p:spPr>
          <a:xfrm>
            <a:off x="2112264" y="3232912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Регистрация: quantity += N + запись в receipts</a:t>
            </a:r>
          </a:p>
        </p:txBody>
      </p:sp>
      <p:sp>
        <p:nvSpPr>
          <p:cNvPr id="278" name="Text 30"/>
          <p:cNvSpPr txBox="1"/>
          <p:nvPr/>
        </p:nvSpPr>
        <p:spPr>
          <a:xfrm>
            <a:off x="6181344" y="323291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Транзакция выполнена</a:t>
            </a:r>
          </a:p>
        </p:txBody>
      </p:sp>
      <p:sp>
        <p:nvSpPr>
          <p:cNvPr id="279" name="Text 31"/>
          <p:cNvSpPr txBox="1"/>
          <p:nvPr/>
        </p:nvSpPr>
        <p:spPr>
          <a:xfrm>
            <a:off x="8513064" y="3201162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0" name="Shape 32"/>
          <p:cNvSpPr/>
          <p:nvPr/>
        </p:nvSpPr>
        <p:spPr>
          <a:xfrm>
            <a:off x="182879" y="3493008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33"/>
          <p:cNvSpPr txBox="1"/>
          <p:nvPr/>
        </p:nvSpPr>
        <p:spPr>
          <a:xfrm>
            <a:off x="237743" y="361696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Расход</a:t>
            </a:r>
          </a:p>
        </p:txBody>
      </p:sp>
      <p:sp>
        <p:nvSpPr>
          <p:cNvPr id="282" name="Text 34"/>
          <p:cNvSpPr txBox="1"/>
          <p:nvPr/>
        </p:nvSpPr>
        <p:spPr>
          <a:xfrm>
            <a:off x="2112264" y="3616960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Расход &gt; остаток → операция отклонена</a:t>
            </a:r>
          </a:p>
        </p:txBody>
      </p:sp>
      <p:sp>
        <p:nvSpPr>
          <p:cNvPr id="283" name="Text 35"/>
          <p:cNvSpPr txBox="1"/>
          <p:nvPr/>
        </p:nvSpPr>
        <p:spPr>
          <a:xfrm>
            <a:off x="6181344" y="3616960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Данные не изменены</a:t>
            </a:r>
          </a:p>
        </p:txBody>
      </p:sp>
      <p:sp>
        <p:nvSpPr>
          <p:cNvPr id="284" name="Text 36"/>
          <p:cNvSpPr txBox="1"/>
          <p:nvPr/>
        </p:nvSpPr>
        <p:spPr>
          <a:xfrm>
            <a:off x="8513064" y="3585210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85" name="Shape 37"/>
          <p:cNvSpPr/>
          <p:nvPr/>
        </p:nvSpPr>
        <p:spPr>
          <a:xfrm>
            <a:off x="182879" y="3877055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38"/>
          <p:cNvSpPr txBox="1"/>
          <p:nvPr/>
        </p:nvSpPr>
        <p:spPr>
          <a:xfrm>
            <a:off x="237743" y="4001008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Транзакция</a:t>
            </a:r>
          </a:p>
        </p:txBody>
      </p:sp>
      <p:sp>
        <p:nvSpPr>
          <p:cNvPr id="287" name="Text 39"/>
          <p:cNvSpPr txBox="1"/>
          <p:nvPr/>
        </p:nvSpPr>
        <p:spPr>
          <a:xfrm>
            <a:off x="2112264" y="4001008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Ошибка в середине → rollback()</a:t>
            </a:r>
          </a:p>
        </p:txBody>
      </p:sp>
      <p:sp>
        <p:nvSpPr>
          <p:cNvPr id="288" name="Text 40"/>
          <p:cNvSpPr txBox="1"/>
          <p:nvPr/>
        </p:nvSpPr>
        <p:spPr>
          <a:xfrm>
            <a:off x="6181344" y="4001008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Целостность сохранена</a:t>
            </a:r>
          </a:p>
        </p:txBody>
      </p:sp>
      <p:sp>
        <p:nvSpPr>
          <p:cNvPr id="289" name="Text 41"/>
          <p:cNvSpPr txBox="1"/>
          <p:nvPr/>
        </p:nvSpPr>
        <p:spPr>
          <a:xfrm>
            <a:off x="8513064" y="3969258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90" name="Shape 42"/>
          <p:cNvSpPr/>
          <p:nvPr/>
        </p:nvSpPr>
        <p:spPr>
          <a:xfrm>
            <a:off x="182879" y="4261103"/>
            <a:ext cx="8778242" cy="374905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43"/>
          <p:cNvSpPr txBox="1"/>
          <p:nvPr/>
        </p:nvSpPr>
        <p:spPr>
          <a:xfrm>
            <a:off x="237743" y="4385055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Низкий остаток</a:t>
            </a:r>
          </a:p>
        </p:txBody>
      </p:sp>
      <p:sp>
        <p:nvSpPr>
          <p:cNvPr id="292" name="Text 44"/>
          <p:cNvSpPr txBox="1"/>
          <p:nvPr/>
        </p:nvSpPr>
        <p:spPr>
          <a:xfrm>
            <a:off x="2112264" y="4385055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quantity ≤ min_quantity → строка в списке</a:t>
            </a:r>
          </a:p>
        </p:txBody>
      </p:sp>
      <p:sp>
        <p:nvSpPr>
          <p:cNvPr id="293" name="Text 45"/>
          <p:cNvSpPr txBox="1"/>
          <p:nvPr/>
        </p:nvSpPr>
        <p:spPr>
          <a:xfrm>
            <a:off x="6181344" y="4385055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Розовый фон при 0</a:t>
            </a:r>
          </a:p>
        </p:txBody>
      </p:sp>
      <p:sp>
        <p:nvSpPr>
          <p:cNvPr id="294" name="Text 46"/>
          <p:cNvSpPr txBox="1"/>
          <p:nvPr/>
        </p:nvSpPr>
        <p:spPr>
          <a:xfrm>
            <a:off x="8513064" y="4353305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  <p:sp>
        <p:nvSpPr>
          <p:cNvPr id="295" name="Shape 47"/>
          <p:cNvSpPr/>
          <p:nvPr/>
        </p:nvSpPr>
        <p:spPr>
          <a:xfrm>
            <a:off x="182879" y="4645152"/>
            <a:ext cx="8778242" cy="374905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48"/>
          <p:cNvSpPr txBox="1"/>
          <p:nvPr/>
        </p:nvSpPr>
        <p:spPr>
          <a:xfrm>
            <a:off x="237743" y="4769104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Отчёт</a:t>
            </a:r>
          </a:p>
        </p:txBody>
      </p:sp>
      <p:sp>
        <p:nvSpPr>
          <p:cNvPr id="297" name="Text 49"/>
          <p:cNvSpPr txBox="1"/>
          <p:nvPr/>
        </p:nvSpPr>
        <p:spPr>
          <a:xfrm>
            <a:off x="2112264" y="4769104"/>
            <a:ext cx="4023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Σ price×quantity совпадает с ручным расчётом</a:t>
            </a:r>
          </a:p>
        </p:txBody>
      </p:sp>
      <p:sp>
        <p:nvSpPr>
          <p:cNvPr id="298" name="Text 50"/>
          <p:cNvSpPr txBox="1"/>
          <p:nvPr/>
        </p:nvSpPr>
        <p:spPr>
          <a:xfrm>
            <a:off x="6181344" y="4769104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/>
            </a:lvl1pPr>
          </a:lstStyle>
          <a:p>
            <a:pPr/>
            <a:r>
              <a:t>Расхождений нет</a:t>
            </a:r>
          </a:p>
        </p:txBody>
      </p:sp>
      <p:sp>
        <p:nvSpPr>
          <p:cNvPr id="299" name="Text 51"/>
          <p:cNvSpPr txBox="1"/>
          <p:nvPr/>
        </p:nvSpPr>
        <p:spPr>
          <a:xfrm>
            <a:off x="8513064" y="4737354"/>
            <a:ext cx="45720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6B3C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+mj-lt"/>
                <a:ea typeface="+mj-ea"/>
                <a:cs typeface="+mj-cs"/>
                <a:sym typeface="Helvetica"/>
              </a:rPr>
              <a:t>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0"/>
          <p:cNvSpPr/>
          <p:nvPr/>
        </p:nvSpPr>
        <p:spPr>
          <a:xfrm>
            <a:off x="0" y="-1"/>
            <a:ext cx="9144000" cy="1097282"/>
          </a:xfrm>
          <a:prstGeom prst="rect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"/>
          <p:cNvSpPr txBox="1"/>
          <p:nvPr/>
        </p:nvSpPr>
        <p:spPr>
          <a:xfrm>
            <a:off x="182879" y="216533"/>
            <a:ext cx="8778242" cy="3533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800">
                <a:solidFill>
                  <a:srgbClr val="FFFFFF"/>
                </a:solidFill>
              </a:defRPr>
            </a:lvl1pPr>
          </a:lstStyle>
          <a:p>
            <a:pPr/>
            <a:r>
              <a:t>ПРАКТИЧЕСКАЯ ЗНАЧИМОСТЬ</a:t>
            </a:r>
          </a:p>
        </p:txBody>
      </p:sp>
      <p:sp>
        <p:nvSpPr>
          <p:cNvPr id="303" name="Shape 2"/>
          <p:cNvSpPr/>
          <p:nvPr/>
        </p:nvSpPr>
        <p:spPr>
          <a:xfrm>
            <a:off x="182880" y="1170432"/>
            <a:ext cx="4251960" cy="38404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3"/>
          <p:cNvSpPr txBox="1"/>
          <p:nvPr/>
        </p:nvSpPr>
        <p:spPr>
          <a:xfrm>
            <a:off x="228599" y="1284023"/>
            <a:ext cx="41605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Что даёт система:</a:t>
            </a:r>
          </a:p>
        </p:txBody>
      </p:sp>
      <p:sp>
        <p:nvSpPr>
          <p:cNvPr id="305" name="Shape 4"/>
          <p:cNvSpPr/>
          <p:nvPr/>
        </p:nvSpPr>
        <p:spPr>
          <a:xfrm>
            <a:off x="182880" y="1572767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Text 5"/>
          <p:cNvSpPr txBox="1"/>
          <p:nvPr/>
        </p:nvSpPr>
        <p:spPr>
          <a:xfrm>
            <a:off x="274320" y="17694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Автоматическое обновление остатков — нет ошибок ручного учёта</a:t>
            </a:r>
          </a:p>
        </p:txBody>
      </p:sp>
      <p:sp>
        <p:nvSpPr>
          <p:cNvPr id="307" name="Shape 6"/>
          <p:cNvSpPr/>
          <p:nvPr/>
        </p:nvSpPr>
        <p:spPr>
          <a:xfrm>
            <a:off x="182880" y="2121407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7"/>
          <p:cNvSpPr txBox="1"/>
          <p:nvPr/>
        </p:nvSpPr>
        <p:spPr>
          <a:xfrm>
            <a:off x="274320" y="231804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Полный журнал операций с датой и пользователем</a:t>
            </a:r>
          </a:p>
        </p:txBody>
      </p:sp>
      <p:sp>
        <p:nvSpPr>
          <p:cNvPr id="309" name="Shape 8"/>
          <p:cNvSpPr/>
          <p:nvPr/>
        </p:nvSpPr>
        <p:spPr>
          <a:xfrm>
            <a:off x="182880" y="2670048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0" name="Text 9"/>
          <p:cNvSpPr txBox="1"/>
          <p:nvPr/>
        </p:nvSpPr>
        <p:spPr>
          <a:xfrm>
            <a:off x="274320" y="286668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Мониторинг товаров ниже минимального остатка</a:t>
            </a:r>
          </a:p>
        </p:txBody>
      </p:sp>
      <p:sp>
        <p:nvSpPr>
          <p:cNvPr id="311" name="Shape 10"/>
          <p:cNvSpPr/>
          <p:nvPr/>
        </p:nvSpPr>
        <p:spPr>
          <a:xfrm>
            <a:off x="182880" y="3218688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11"/>
          <p:cNvSpPr txBox="1"/>
          <p:nvPr/>
        </p:nvSpPr>
        <p:spPr>
          <a:xfrm>
            <a:off x="274320" y="341532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Аналитический отчёт по стоимости запасов и категориям</a:t>
            </a:r>
          </a:p>
        </p:txBody>
      </p:sp>
      <p:sp>
        <p:nvSpPr>
          <p:cNvPr id="313" name="Shape 12"/>
          <p:cNvSpPr/>
          <p:nvPr/>
        </p:nvSpPr>
        <p:spPr>
          <a:xfrm>
            <a:off x="182880" y="3767328"/>
            <a:ext cx="4251960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4" name="Text 13"/>
          <p:cNvSpPr txBox="1"/>
          <p:nvPr/>
        </p:nvSpPr>
        <p:spPr>
          <a:xfrm>
            <a:off x="274320" y="3963967"/>
            <a:ext cx="40690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Ролевая модель: admin / operator / client</a:t>
            </a:r>
          </a:p>
        </p:txBody>
      </p:sp>
      <p:sp>
        <p:nvSpPr>
          <p:cNvPr id="315" name="Shape 14"/>
          <p:cNvSpPr/>
          <p:nvPr/>
        </p:nvSpPr>
        <p:spPr>
          <a:xfrm>
            <a:off x="182880" y="4315967"/>
            <a:ext cx="4251960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5"/>
          <p:cNvSpPr txBox="1"/>
          <p:nvPr/>
        </p:nvSpPr>
        <p:spPr>
          <a:xfrm>
            <a:off x="274320" y="45126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Система заказов для клиентов</a:t>
            </a:r>
          </a:p>
        </p:txBody>
      </p:sp>
      <p:sp>
        <p:nvSpPr>
          <p:cNvPr id="317" name="Shape 16"/>
          <p:cNvSpPr/>
          <p:nvPr/>
        </p:nvSpPr>
        <p:spPr>
          <a:xfrm>
            <a:off x="4709159" y="1170432"/>
            <a:ext cx="4251961" cy="384049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17"/>
          <p:cNvSpPr txBox="1"/>
          <p:nvPr/>
        </p:nvSpPr>
        <p:spPr>
          <a:xfrm>
            <a:off x="4754879" y="1284023"/>
            <a:ext cx="41605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Перспективы развития:</a:t>
            </a:r>
          </a:p>
        </p:txBody>
      </p:sp>
      <p:sp>
        <p:nvSpPr>
          <p:cNvPr id="319" name="Shape 18"/>
          <p:cNvSpPr/>
          <p:nvPr/>
        </p:nvSpPr>
        <p:spPr>
          <a:xfrm>
            <a:off x="4709159" y="1572767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 19"/>
          <p:cNvSpPr txBox="1"/>
          <p:nvPr/>
        </p:nvSpPr>
        <p:spPr>
          <a:xfrm>
            <a:off x="4800600" y="17694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Экспорт отчётов в PDF и Excel</a:t>
            </a:r>
          </a:p>
        </p:txBody>
      </p:sp>
      <p:sp>
        <p:nvSpPr>
          <p:cNvPr id="321" name="Shape 20"/>
          <p:cNvSpPr/>
          <p:nvPr/>
        </p:nvSpPr>
        <p:spPr>
          <a:xfrm>
            <a:off x="4709159" y="2121407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21"/>
          <p:cNvSpPr txBox="1"/>
          <p:nvPr/>
        </p:nvSpPr>
        <p:spPr>
          <a:xfrm>
            <a:off x="4800600" y="231804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Веб-интерфейс (Spring Boot)</a:t>
            </a:r>
          </a:p>
        </p:txBody>
      </p:sp>
      <p:sp>
        <p:nvSpPr>
          <p:cNvPr id="323" name="Shape 22"/>
          <p:cNvSpPr/>
          <p:nvPr/>
        </p:nvSpPr>
        <p:spPr>
          <a:xfrm>
            <a:off x="4709159" y="2670048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 23"/>
          <p:cNvSpPr txBox="1"/>
          <p:nvPr/>
        </p:nvSpPr>
        <p:spPr>
          <a:xfrm>
            <a:off x="4800600" y="286668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Поддержка штрихкодирования</a:t>
            </a:r>
          </a:p>
        </p:txBody>
      </p:sp>
      <p:sp>
        <p:nvSpPr>
          <p:cNvPr id="325" name="Shape 24"/>
          <p:cNvSpPr/>
          <p:nvPr/>
        </p:nvSpPr>
        <p:spPr>
          <a:xfrm>
            <a:off x="4709159" y="3218688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25"/>
          <p:cNvSpPr txBox="1"/>
          <p:nvPr/>
        </p:nvSpPr>
        <p:spPr>
          <a:xfrm>
            <a:off x="4800600" y="341532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Уведомления о критических остатках</a:t>
            </a:r>
          </a:p>
        </p:txBody>
      </p:sp>
      <p:sp>
        <p:nvSpPr>
          <p:cNvPr id="327" name="Shape 26"/>
          <p:cNvSpPr/>
          <p:nvPr/>
        </p:nvSpPr>
        <p:spPr>
          <a:xfrm>
            <a:off x="4709159" y="3767328"/>
            <a:ext cx="4251961" cy="530353"/>
          </a:xfrm>
          <a:prstGeom prst="rect">
            <a:avLst/>
          </a:prstGeom>
          <a:solidFill>
            <a:srgbClr val="D9D9D9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27"/>
          <p:cNvSpPr txBox="1"/>
          <p:nvPr/>
        </p:nvSpPr>
        <p:spPr>
          <a:xfrm>
            <a:off x="4800600" y="3963967"/>
            <a:ext cx="40690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Интеграция с бухгалтерскими системами</a:t>
            </a:r>
          </a:p>
        </p:txBody>
      </p:sp>
      <p:sp>
        <p:nvSpPr>
          <p:cNvPr id="329" name="Shape 28"/>
          <p:cNvSpPr/>
          <p:nvPr/>
        </p:nvSpPr>
        <p:spPr>
          <a:xfrm>
            <a:off x="4709159" y="4315967"/>
            <a:ext cx="4251961" cy="530353"/>
          </a:xfrm>
          <a:prstGeom prst="rect">
            <a:avLst/>
          </a:prstGeom>
          <a:solidFill>
            <a:srgbClr val="EFEFEF"/>
          </a:solidFill>
          <a:ln w="12700">
            <a:solidFill>
              <a:srgbClr val="CCCCC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0" name="Text 29"/>
          <p:cNvSpPr txBox="1"/>
          <p:nvPr/>
        </p:nvSpPr>
        <p:spPr>
          <a:xfrm>
            <a:off x="4800600" y="4512608"/>
            <a:ext cx="40690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/>
            </a:lvl1pPr>
          </a:lstStyle>
          <a:p>
            <a:pPr/>
            <a:r>
              <a:t>Облачное развёртывание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6E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0"/>
          <p:cNvSpPr/>
          <p:nvPr/>
        </p:nvSpPr>
        <p:spPr>
          <a:xfrm>
            <a:off x="1828800" y="274320"/>
            <a:ext cx="5486400" cy="4572001"/>
          </a:xfrm>
          <a:prstGeom prst="ellipse">
            <a:avLst/>
          </a:prstGeom>
          <a:solidFill>
            <a:srgbClr val="1E3A73"/>
          </a:solidFill>
          <a:ln w="12700">
            <a:solidFill>
              <a:srgbClr val="1E3A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1"/>
          <p:cNvSpPr txBox="1"/>
          <p:nvPr/>
        </p:nvSpPr>
        <p:spPr>
          <a:xfrm>
            <a:off x="2103119" y="1869092"/>
            <a:ext cx="4937762" cy="1016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3600">
                <a:solidFill>
                  <a:srgbClr val="FFFFFF"/>
                </a:solidFill>
              </a:defRPr>
            </a:pPr>
            <a:r>
              <a:t>СПАСИБО ЗА</a:t>
            </a:r>
          </a:p>
          <a:p>
            <a:pPr algn="ctr">
              <a:defRPr b="1" sz="3600">
                <a:solidFill>
                  <a:srgbClr val="FFFFFF"/>
                </a:solidFill>
              </a:defRPr>
            </a:pPr>
            <a:r>
              <a:t>ВНИМАНИЕ!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